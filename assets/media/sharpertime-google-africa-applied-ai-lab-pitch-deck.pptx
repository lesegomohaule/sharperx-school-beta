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2-1.jpg" ContentType="image/jpg"/>
  <Override PartName="/ppt/media/image-2-2.jpg" ContentType="image/jpg"/>
  <Override PartName="/ppt/media/image-6-2.jpg" ContentType="image/jpg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image" Target="../media/image-2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jp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1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514"/>
          </a:solidFill>
          <a:ln w="12700">
            <a:solidFill>
              <a:srgbClr val="071514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4100F"/>
          </a:solidFill>
          <a:ln w="12700">
            <a:solidFill>
              <a:srgbClr val="04100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18A7B">
              <a:alpha val="75000"/>
            </a:srgbClr>
          </a:solidFill>
          <a:ln w="12700">
            <a:solidFill>
              <a:srgbClr val="118A7B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080760" y="502920"/>
            <a:ext cx="5577840" cy="5440680"/>
          </a:xfrm>
          <a:prstGeom prst="roundRect">
            <a:avLst>
              <a:gd name="adj" fmla="val 2017"/>
            </a:avLst>
          </a:prstGeom>
          <a:solidFill>
            <a:srgbClr val="F6FAF9"/>
          </a:solidFill>
          <a:ln w="12700">
            <a:solidFill>
              <a:srgbClr val="21403A">
                <a:alpha val="40000"/>
              </a:srgbClr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8000"/>
              </a:srgbClr>
            </a:outerShdw>
          </a:effectLst>
        </p:spPr>
      </p:sp>
      <p:pic>
        <p:nvPicPr>
          <p:cNvPr id="6" name="Image 0" descr="/mnt/data/bb10cbe6-adeb-4d5d-b571-91dd7210421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63640" y="1825239"/>
            <a:ext cx="5212080" cy="2722891"/>
          </a:xfrm>
          <a:prstGeom prst="rect">
            <a:avLst/>
          </a:prstGeom>
        </p:spPr>
      </p:pic>
      <p:pic>
        <p:nvPicPr>
          <p:cNvPr id="7" name="Image 1" descr="/mnt/data/calculus_lesson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640080"/>
            <a:ext cx="841248" cy="841248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594360" y="1645920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5FBFA"/>
                </a:solidFill>
              </a:rPr>
              <a:t>SharperTime</a:t>
            </a:r>
            <a:endParaRPr lang="en-US" sz="3200" dirty="0"/>
          </a:p>
        </p:txBody>
      </p:sp>
      <p:sp>
        <p:nvSpPr>
          <p:cNvPr id="9" name="Text 5"/>
          <p:cNvSpPr/>
          <p:nvPr/>
        </p:nvSpPr>
        <p:spPr>
          <a:xfrm>
            <a:off x="612648" y="2240280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43E6CF"/>
                </a:solidFill>
              </a:rPr>
              <a:t>AI-powered Grade 12 Mathematics tutoring for African learners</a:t>
            </a:r>
            <a:endParaRPr lang="en-US" sz="2100" dirty="0"/>
          </a:p>
        </p:txBody>
      </p:sp>
      <p:sp>
        <p:nvSpPr>
          <p:cNvPr id="10" name="Text 6"/>
          <p:cNvSpPr/>
          <p:nvPr/>
        </p:nvSpPr>
        <p:spPr>
          <a:xfrm>
            <a:off x="621792" y="3127248"/>
            <a:ext cx="4754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40" dirty="0">
                <a:solidFill>
                  <a:srgbClr val="B8C7C4"/>
                </a:solidFill>
              </a:rPr>
              <a:t>A working Windows and Android platform for practice, hints, diagnostic marking, multimodal input and lesson videos.</a:t>
            </a:r>
            <a:endParaRPr lang="en-US" sz="1440" dirty="0"/>
          </a:p>
        </p:txBody>
      </p:sp>
      <p:sp>
        <p:nvSpPr>
          <p:cNvPr id="11" name="Text 7"/>
          <p:cNvSpPr/>
          <p:nvPr/>
        </p:nvSpPr>
        <p:spPr>
          <a:xfrm>
            <a:off x="621792" y="406908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20" dirty="0">
                <a:solidFill>
                  <a:srgbClr val="F5FBFA"/>
                </a:solidFill>
              </a:rPr>
              <a:t>Sharper X (Pty) Ltd</a:t>
            </a:r>
            <a:endParaRPr lang="en-US" sz="1320" dirty="0"/>
          </a:p>
          <a:p>
            <a:pPr indent="0" marL="0">
              <a:buNone/>
            </a:pPr>
            <a:r>
              <a:rPr lang="en-US" sz="1320" dirty="0">
                <a:solidFill>
                  <a:srgbClr val="F5FBFA"/>
                </a:solidFill>
              </a:rPr>
              <a:t>Founder: Lesego Mohaule</a:t>
            </a:r>
            <a:endParaRPr lang="en-US" sz="1320" dirty="0"/>
          </a:p>
          <a:p>
            <a:pPr indent="0" marL="0">
              <a:buNone/>
            </a:pPr>
            <a:r>
              <a:rPr lang="en-US" sz="1320" dirty="0">
                <a:solidFill>
                  <a:srgbClr val="F5FBFA"/>
                </a:solidFill>
              </a:rPr>
              <a:t>Johannesburg, South Africa</a:t>
            </a:r>
            <a:endParaRPr lang="en-US" sz="1320" dirty="0"/>
          </a:p>
        </p:txBody>
      </p:sp>
      <p:sp>
        <p:nvSpPr>
          <p:cNvPr id="12" name="Shape 8"/>
          <p:cNvSpPr/>
          <p:nvPr/>
        </p:nvSpPr>
        <p:spPr>
          <a:xfrm>
            <a:off x="621792" y="5230368"/>
            <a:ext cx="4754880" cy="658368"/>
          </a:xfrm>
          <a:prstGeom prst="roundRect">
            <a:avLst>
              <a:gd name="adj" fmla="val 16667"/>
            </a:avLst>
          </a:prstGeom>
          <a:solidFill>
            <a:srgbClr val="091918"/>
          </a:solidFill>
          <a:ln w="12700">
            <a:solidFill>
              <a:srgbClr val="43E6CF">
                <a:alpha val="80000"/>
              </a:srgbClr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8000"/>
              </a:srgbClr>
            </a:outerShdw>
          </a:effectLst>
        </p:spPr>
      </p:sp>
      <p:sp>
        <p:nvSpPr>
          <p:cNvPr id="13" name="Text 9"/>
          <p:cNvSpPr/>
          <p:nvPr/>
        </p:nvSpPr>
        <p:spPr>
          <a:xfrm>
            <a:off x="841248" y="5440680"/>
            <a:ext cx="4297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9C35B"/>
                </a:solidFill>
              </a:rPr>
              <a:t>Application deck for Google Africa Applied AI Lab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71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514"/>
          </a:solidFill>
          <a:ln w="12700">
            <a:solidFill>
              <a:srgbClr val="071514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4100F"/>
          </a:solidFill>
          <a:ln w="12700">
            <a:solidFill>
              <a:srgbClr val="04100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18A7B">
              <a:alpha val="75000"/>
            </a:srgbClr>
          </a:solidFill>
          <a:ln w="12700">
            <a:solidFill>
              <a:srgbClr val="118A7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320040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5FBF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problem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548640" y="749808"/>
            <a:ext cx="6675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8C7C4"/>
                </a:solidFill>
              </a:rPr>
              <a:t>Affordable, personalised mathematics help is still difficult to access.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9646920" y="301752"/>
            <a:ext cx="1965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43E6CF"/>
                </a:solidFill>
              </a:rPr>
              <a:t>SharperTime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646920" y="713232"/>
            <a:ext cx="1965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8C7C4"/>
                </a:solidFill>
              </a:rPr>
              <a:t>Google Africa Applied AI Lab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658368" y="1170432"/>
            <a:ext cx="5212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5FBFA"/>
                </a:solidFill>
              </a:rPr>
              <a:t>Many learners need help exactly when they are studying alone.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804672" y="2066544"/>
            <a:ext cx="128016" cy="128016"/>
          </a:xfrm>
          <a:prstGeom prst="ellipse">
            <a:avLst/>
          </a:prstGeom>
          <a:solidFill>
            <a:srgbClr val="43E6CF"/>
          </a:solidFill>
          <a:ln w="12700">
            <a:solidFill>
              <a:srgbClr val="43E6CF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33272" y="2011680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B8C7C4"/>
                </a:solidFill>
              </a:rPr>
              <a:t>Private tutoring is effective but too expensive for many families.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04672" y="2688336"/>
            <a:ext cx="128016" cy="128016"/>
          </a:xfrm>
          <a:prstGeom prst="ellipse">
            <a:avLst/>
          </a:prstGeom>
          <a:solidFill>
            <a:srgbClr val="43E6CF"/>
          </a:solidFill>
          <a:ln w="12700">
            <a:solidFill>
              <a:srgbClr val="43E6CF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33272" y="2633472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B8C7C4"/>
                </a:solidFill>
              </a:rPr>
              <a:t>School mathematics is multimodal: equations, working, graphs and diagrams.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804672" y="3310128"/>
            <a:ext cx="128016" cy="128016"/>
          </a:xfrm>
          <a:prstGeom prst="ellipse">
            <a:avLst/>
          </a:prstGeom>
          <a:solidFill>
            <a:srgbClr val="43E6CF"/>
          </a:solidFill>
          <a:ln w="12700">
            <a:solidFill>
              <a:srgbClr val="43E6CF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33272" y="3255264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B8C7C4"/>
                </a:solidFill>
              </a:rPr>
              <a:t>Generic AI tools do not provide a structured learning flow, marking and feedback.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804672" y="3931920"/>
            <a:ext cx="128016" cy="128016"/>
          </a:xfrm>
          <a:prstGeom prst="ellipse">
            <a:avLst/>
          </a:prstGeom>
          <a:solidFill>
            <a:srgbClr val="43E6CF"/>
          </a:solidFill>
          <a:ln w="12700">
            <a:solidFill>
              <a:srgbClr val="43E6CF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33272" y="3877056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B8C7C4"/>
                </a:solidFill>
              </a:rPr>
              <a:t>Learners need immediate correction, not only final answers.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777240" y="4937760"/>
            <a:ext cx="1645920" cy="1170432"/>
          </a:xfrm>
          <a:prstGeom prst="roundRect">
            <a:avLst>
              <a:gd name="adj" fmla="val 9375"/>
            </a:avLst>
          </a:prstGeom>
          <a:solidFill>
            <a:srgbClr val="142D29"/>
          </a:solidFill>
          <a:ln w="12700">
            <a:solidFill>
              <a:srgbClr val="E9C35B">
                <a:alpha val="65000"/>
              </a:srgbClr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8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850392" y="5074920"/>
            <a:ext cx="1499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9C35B"/>
                </a:solidFill>
              </a:rPr>
              <a:t>R35–R50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868680" y="557784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20" dirty="0">
                <a:solidFill>
                  <a:srgbClr val="B8C7C4"/>
                </a:solidFill>
              </a:rPr>
              <a:t>Target 30-day price</a:t>
            </a:r>
            <a:endParaRPr lang="en-US" sz="1020" dirty="0"/>
          </a:p>
        </p:txBody>
      </p:sp>
      <p:sp>
        <p:nvSpPr>
          <p:cNvPr id="21" name="Shape 19"/>
          <p:cNvSpPr/>
          <p:nvPr/>
        </p:nvSpPr>
        <p:spPr>
          <a:xfrm>
            <a:off x="2651760" y="4937760"/>
            <a:ext cx="1645920" cy="1170432"/>
          </a:xfrm>
          <a:prstGeom prst="roundRect">
            <a:avLst>
              <a:gd name="adj" fmla="val 9375"/>
            </a:avLst>
          </a:prstGeom>
          <a:solidFill>
            <a:srgbClr val="142D29"/>
          </a:solidFill>
          <a:ln w="12700">
            <a:solidFill>
              <a:srgbClr val="43E6CF">
                <a:alpha val="65000"/>
              </a:srgbClr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2724912" y="5074920"/>
            <a:ext cx="1499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43E6CF"/>
                </a:solidFill>
              </a:rPr>
              <a:t>Grade 12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2743200" y="557784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20" dirty="0">
                <a:solidFill>
                  <a:srgbClr val="B8C7C4"/>
                </a:solidFill>
              </a:rPr>
              <a:t>Initial launch focus</a:t>
            </a:r>
            <a:endParaRPr lang="en-US" sz="1020" dirty="0"/>
          </a:p>
        </p:txBody>
      </p:sp>
      <p:sp>
        <p:nvSpPr>
          <p:cNvPr id="24" name="Shape 22"/>
          <p:cNvSpPr/>
          <p:nvPr/>
        </p:nvSpPr>
        <p:spPr>
          <a:xfrm>
            <a:off x="4526280" y="4937760"/>
            <a:ext cx="1783080" cy="1170432"/>
          </a:xfrm>
          <a:prstGeom prst="roundRect">
            <a:avLst>
              <a:gd name="adj" fmla="val 9375"/>
            </a:avLst>
          </a:prstGeom>
          <a:solidFill>
            <a:srgbClr val="142D29"/>
          </a:solidFill>
          <a:ln w="12700">
            <a:solidFill>
              <a:srgbClr val="F29D52">
                <a:alpha val="65000"/>
              </a:srgbClr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8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4599432" y="5074920"/>
            <a:ext cx="16367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29D52"/>
                </a:solidFill>
              </a:rPr>
              <a:t>Local → Africa</a:t>
            </a:r>
            <a:endParaRPr lang="en-US" sz="2400" dirty="0"/>
          </a:p>
        </p:txBody>
      </p:sp>
      <p:sp>
        <p:nvSpPr>
          <p:cNvPr id="26" name="Text 24"/>
          <p:cNvSpPr/>
          <p:nvPr/>
        </p:nvSpPr>
        <p:spPr>
          <a:xfrm>
            <a:off x="4617720" y="557784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20" dirty="0">
                <a:solidFill>
                  <a:srgbClr val="B8C7C4"/>
                </a:solidFill>
              </a:rPr>
              <a:t>Expansion path</a:t>
            </a:r>
            <a:endParaRPr lang="en-US" sz="1020" dirty="0"/>
          </a:p>
        </p:txBody>
      </p:sp>
      <p:sp>
        <p:nvSpPr>
          <p:cNvPr id="27" name="Shape 25"/>
          <p:cNvSpPr/>
          <p:nvPr/>
        </p:nvSpPr>
        <p:spPr>
          <a:xfrm>
            <a:off x="6812280" y="1115568"/>
            <a:ext cx="2011680" cy="4937760"/>
          </a:xfrm>
          <a:prstGeom prst="roundRect">
            <a:avLst>
              <a:gd name="adj" fmla="val 3636"/>
            </a:avLst>
          </a:prstGeom>
          <a:solidFill>
            <a:srgbClr val="F6FAF9"/>
          </a:solidFill>
          <a:ln w="12700">
            <a:solidFill>
              <a:srgbClr val="21403A">
                <a:alpha val="45000"/>
              </a:srgbClr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8000"/>
              </a:srgbClr>
            </a:outerShdw>
          </a:effectLst>
        </p:spPr>
      </p:sp>
      <p:pic>
        <p:nvPicPr>
          <p:cNvPr id="28" name="Image 0" descr="/mnt/data/85747cf2-ccf4-46e0-8e55-2aa38798410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22008" y="2234184"/>
            <a:ext cx="1792224" cy="2389632"/>
          </a:xfrm>
          <a:prstGeom prst="rect">
            <a:avLst/>
          </a:prstGeom>
        </p:spPr>
      </p:pic>
      <p:sp>
        <p:nvSpPr>
          <p:cNvPr id="29" name="Text 26"/>
          <p:cNvSpPr/>
          <p:nvPr/>
        </p:nvSpPr>
        <p:spPr>
          <a:xfrm>
            <a:off x="6922008" y="5788152"/>
            <a:ext cx="17922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172321"/>
                </a:solidFill>
              </a:rPr>
              <a:t>Textbook question</a:t>
            </a:r>
            <a:endParaRPr lang="en-US" sz="1080" dirty="0"/>
          </a:p>
        </p:txBody>
      </p:sp>
      <p:sp>
        <p:nvSpPr>
          <p:cNvPr id="30" name="Shape 27"/>
          <p:cNvSpPr/>
          <p:nvPr/>
        </p:nvSpPr>
        <p:spPr>
          <a:xfrm>
            <a:off x="9025128" y="1115568"/>
            <a:ext cx="2011680" cy="4937760"/>
          </a:xfrm>
          <a:prstGeom prst="roundRect">
            <a:avLst>
              <a:gd name="adj" fmla="val 3636"/>
            </a:avLst>
          </a:prstGeom>
          <a:solidFill>
            <a:srgbClr val="F6FAF9"/>
          </a:solidFill>
          <a:ln w="12700">
            <a:solidFill>
              <a:srgbClr val="21403A">
                <a:alpha val="45000"/>
              </a:srgbClr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8000"/>
              </a:srgbClr>
            </a:outerShdw>
          </a:effectLst>
        </p:spPr>
      </p:sp>
      <p:pic>
        <p:nvPicPr>
          <p:cNvPr id="31" name="Image 1" descr="/mnt/data/324a6320-d1e2-47e9-bce8-0772629ae2e7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34856" y="2234184"/>
            <a:ext cx="1792224" cy="2389632"/>
          </a:xfrm>
          <a:prstGeom prst="rect">
            <a:avLst/>
          </a:prstGeom>
        </p:spPr>
      </p:pic>
      <p:sp>
        <p:nvSpPr>
          <p:cNvPr id="32" name="Text 28"/>
          <p:cNvSpPr/>
          <p:nvPr/>
        </p:nvSpPr>
        <p:spPr>
          <a:xfrm>
            <a:off x="9134856" y="5788152"/>
            <a:ext cx="17922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172321"/>
                </a:solidFill>
              </a:rPr>
              <a:t>Handwritten graph</a:t>
            </a:r>
            <a:endParaRPr lang="en-US" sz="108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71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514"/>
          </a:solidFill>
          <a:ln w="12700">
            <a:solidFill>
              <a:srgbClr val="071514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4100F"/>
          </a:solidFill>
          <a:ln w="12700">
            <a:solidFill>
              <a:srgbClr val="04100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18A7B">
              <a:alpha val="75000"/>
            </a:srgbClr>
          </a:solidFill>
          <a:ln w="12700">
            <a:solidFill>
              <a:srgbClr val="118A7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320040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5FBF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solution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548640" y="749808"/>
            <a:ext cx="6675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8C7C4"/>
                </a:solidFill>
              </a:rPr>
              <a:t>A focused AI tutor built around real mathematics workflows.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9646920" y="301752"/>
            <a:ext cx="1965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43E6CF"/>
                </a:solidFill>
              </a:rPr>
              <a:t>SharperTime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646920" y="713232"/>
            <a:ext cx="1965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8C7C4"/>
                </a:solidFill>
              </a:rPr>
              <a:t>Google Africa Applied AI Lab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594360" y="1115568"/>
            <a:ext cx="5120640" cy="4526280"/>
          </a:xfrm>
          <a:prstGeom prst="roundRect">
            <a:avLst>
              <a:gd name="adj" fmla="val 1616"/>
            </a:avLst>
          </a:prstGeom>
          <a:solidFill>
            <a:srgbClr val="F6FAF9"/>
          </a:solidFill>
          <a:ln w="12700">
            <a:solidFill>
              <a:srgbClr val="21403A">
                <a:alpha val="45000"/>
              </a:srgbClr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8000"/>
              </a:srgbClr>
            </a:outerShdw>
          </a:effectLst>
        </p:spPr>
      </p:sp>
      <p:pic>
        <p:nvPicPr>
          <p:cNvPr id="10" name="Image 0" descr="/mnt/data/bb10cbe6-adeb-4d5d-b571-91dd7210421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2098472"/>
            <a:ext cx="4901184" cy="2560473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6172200" y="1170432"/>
            <a:ext cx="5257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5FBFA"/>
                </a:solidFill>
              </a:rPr>
              <a:t>SharperTime combines structured learning with multimodal AI.</a:t>
            </a:r>
            <a:endParaRPr lang="en-US" sz="2400" dirty="0"/>
          </a:p>
        </p:txBody>
      </p:sp>
      <p:sp>
        <p:nvSpPr>
          <p:cNvPr id="12" name="Shape 9"/>
          <p:cNvSpPr/>
          <p:nvPr/>
        </p:nvSpPr>
        <p:spPr>
          <a:xfrm>
            <a:off x="6217920" y="2066544"/>
            <a:ext cx="164592" cy="164592"/>
          </a:xfrm>
          <a:prstGeom prst="ellipse">
            <a:avLst/>
          </a:prstGeom>
          <a:solidFill>
            <a:srgbClr val="43E6CF"/>
          </a:solidFill>
          <a:ln w="12700">
            <a:solidFill>
              <a:srgbClr val="43E6CF">
                <a:alpha val="0"/>
              </a:srgbClr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510528" y="199339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43E6CF"/>
                </a:solidFill>
              </a:rPr>
              <a:t>Ask</a:t>
            </a:r>
            <a:endParaRPr lang="en-US" sz="1550" dirty="0"/>
          </a:p>
        </p:txBody>
      </p:sp>
      <p:sp>
        <p:nvSpPr>
          <p:cNvPr id="14" name="Text 11"/>
          <p:cNvSpPr/>
          <p:nvPr/>
        </p:nvSpPr>
        <p:spPr>
          <a:xfrm>
            <a:off x="7635240" y="1993392"/>
            <a:ext cx="3611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20" dirty="0">
                <a:solidFill>
                  <a:srgbClr val="B8C7C4"/>
                </a:solidFill>
              </a:rPr>
              <a:t>Learners ask mathematics questions naturally.</a:t>
            </a:r>
            <a:endParaRPr lang="en-US" sz="1320" dirty="0"/>
          </a:p>
        </p:txBody>
      </p:sp>
      <p:sp>
        <p:nvSpPr>
          <p:cNvPr id="15" name="Shape 12"/>
          <p:cNvSpPr/>
          <p:nvPr/>
        </p:nvSpPr>
        <p:spPr>
          <a:xfrm>
            <a:off x="6217920" y="2779776"/>
            <a:ext cx="164592" cy="164592"/>
          </a:xfrm>
          <a:prstGeom prst="ellipse">
            <a:avLst/>
          </a:prstGeom>
          <a:solidFill>
            <a:srgbClr val="43E6CF"/>
          </a:solidFill>
          <a:ln w="12700">
            <a:solidFill>
              <a:srgbClr val="43E6CF">
                <a:alpha val="0"/>
              </a:srgbClr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510528" y="2706624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43E6CF"/>
                </a:solidFill>
              </a:rPr>
              <a:t>Practice</a:t>
            </a:r>
            <a:endParaRPr lang="en-US" sz="1550" dirty="0"/>
          </a:p>
        </p:txBody>
      </p:sp>
      <p:sp>
        <p:nvSpPr>
          <p:cNvPr id="17" name="Text 14"/>
          <p:cNvSpPr/>
          <p:nvPr/>
        </p:nvSpPr>
        <p:spPr>
          <a:xfrm>
            <a:off x="7635240" y="2706624"/>
            <a:ext cx="3611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20" dirty="0">
                <a:solidFill>
                  <a:srgbClr val="B8C7C4"/>
                </a:solidFill>
              </a:rPr>
              <a:t>Difficulty-based practice with hints and guided feedback.</a:t>
            </a:r>
            <a:endParaRPr lang="en-US" sz="1320" dirty="0"/>
          </a:p>
        </p:txBody>
      </p:sp>
      <p:sp>
        <p:nvSpPr>
          <p:cNvPr id="18" name="Shape 15"/>
          <p:cNvSpPr/>
          <p:nvPr/>
        </p:nvSpPr>
        <p:spPr>
          <a:xfrm>
            <a:off x="6217920" y="3493008"/>
            <a:ext cx="164592" cy="164592"/>
          </a:xfrm>
          <a:prstGeom prst="ellipse">
            <a:avLst/>
          </a:prstGeom>
          <a:solidFill>
            <a:srgbClr val="43E6CF"/>
          </a:solidFill>
          <a:ln w="12700">
            <a:solidFill>
              <a:srgbClr val="43E6CF">
                <a:alpha val="0"/>
              </a:srgbClr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510528" y="3419856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43E6CF"/>
                </a:solidFill>
              </a:rPr>
              <a:t>Mark</a:t>
            </a:r>
            <a:endParaRPr lang="en-US" sz="1550" dirty="0"/>
          </a:p>
        </p:txBody>
      </p:sp>
      <p:sp>
        <p:nvSpPr>
          <p:cNvPr id="20" name="Text 17"/>
          <p:cNvSpPr/>
          <p:nvPr/>
        </p:nvSpPr>
        <p:spPr>
          <a:xfrm>
            <a:off x="7635240" y="3419856"/>
            <a:ext cx="3611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20" dirty="0">
                <a:solidFill>
                  <a:srgbClr val="B8C7C4"/>
                </a:solidFill>
              </a:rPr>
              <a:t>The app checks answers and explains mistakes.</a:t>
            </a:r>
            <a:endParaRPr lang="en-US" sz="1320" dirty="0"/>
          </a:p>
        </p:txBody>
      </p:sp>
      <p:sp>
        <p:nvSpPr>
          <p:cNvPr id="21" name="Shape 18"/>
          <p:cNvSpPr/>
          <p:nvPr/>
        </p:nvSpPr>
        <p:spPr>
          <a:xfrm>
            <a:off x="6217920" y="4206240"/>
            <a:ext cx="164592" cy="164592"/>
          </a:xfrm>
          <a:prstGeom prst="ellipse">
            <a:avLst/>
          </a:prstGeom>
          <a:solidFill>
            <a:srgbClr val="43E6CF"/>
          </a:solidFill>
          <a:ln w="12700">
            <a:solidFill>
              <a:srgbClr val="43E6CF">
                <a:alpha val="0"/>
              </a:srgbClr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510528" y="4133088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43E6CF"/>
                </a:solidFill>
              </a:rPr>
              <a:t>Capture</a:t>
            </a:r>
            <a:endParaRPr lang="en-US" sz="1550" dirty="0"/>
          </a:p>
        </p:txBody>
      </p:sp>
      <p:sp>
        <p:nvSpPr>
          <p:cNvPr id="23" name="Text 20"/>
          <p:cNvSpPr/>
          <p:nvPr/>
        </p:nvSpPr>
        <p:spPr>
          <a:xfrm>
            <a:off x="7635240" y="4133088"/>
            <a:ext cx="3611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20" dirty="0">
                <a:solidFill>
                  <a:srgbClr val="B8C7C4"/>
                </a:solidFill>
              </a:rPr>
              <a:t>Textbook images, handwritten work, voice and graphs.</a:t>
            </a:r>
            <a:endParaRPr lang="en-US" sz="1320" dirty="0"/>
          </a:p>
        </p:txBody>
      </p:sp>
      <p:sp>
        <p:nvSpPr>
          <p:cNvPr id="24" name="Shape 21"/>
          <p:cNvSpPr/>
          <p:nvPr/>
        </p:nvSpPr>
        <p:spPr>
          <a:xfrm>
            <a:off x="6217920" y="4919472"/>
            <a:ext cx="164592" cy="164592"/>
          </a:xfrm>
          <a:prstGeom prst="ellipse">
            <a:avLst/>
          </a:prstGeom>
          <a:solidFill>
            <a:srgbClr val="43E6CF"/>
          </a:solidFill>
          <a:ln w="12700">
            <a:solidFill>
              <a:srgbClr val="43E6CF">
                <a:alpha val="0"/>
              </a:srgbClr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510528" y="484632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43E6CF"/>
                </a:solidFill>
              </a:rPr>
              <a:t>Learn</a:t>
            </a:r>
            <a:endParaRPr lang="en-US" sz="1550" dirty="0"/>
          </a:p>
        </p:txBody>
      </p:sp>
      <p:sp>
        <p:nvSpPr>
          <p:cNvPr id="26" name="Text 23"/>
          <p:cNvSpPr/>
          <p:nvPr/>
        </p:nvSpPr>
        <p:spPr>
          <a:xfrm>
            <a:off x="7635240" y="4846320"/>
            <a:ext cx="3611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20" dirty="0">
                <a:solidFill>
                  <a:srgbClr val="B8C7C4"/>
                </a:solidFill>
              </a:rPr>
              <a:t>Short lesson videos connected to revision and practice.</a:t>
            </a:r>
            <a:endParaRPr lang="en-US" sz="1320" dirty="0"/>
          </a:p>
        </p:txBody>
      </p:sp>
      <p:sp>
        <p:nvSpPr>
          <p:cNvPr id="27" name="Shape 24"/>
          <p:cNvSpPr/>
          <p:nvPr/>
        </p:nvSpPr>
        <p:spPr>
          <a:xfrm>
            <a:off x="6199632" y="5486400"/>
            <a:ext cx="4663440" cy="658368"/>
          </a:xfrm>
          <a:prstGeom prst="roundRect">
            <a:avLst>
              <a:gd name="adj" fmla="val 16667"/>
            </a:avLst>
          </a:prstGeom>
          <a:solidFill>
            <a:srgbClr val="142D29"/>
          </a:solidFill>
          <a:ln w="12700">
            <a:solidFill>
              <a:srgbClr val="118A7B">
                <a:alpha val="55000"/>
              </a:srgbClr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419088" y="5696712"/>
            <a:ext cx="42245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60" b="1" dirty="0">
                <a:solidFill>
                  <a:srgbClr val="F5FBFA"/>
                </a:solidFill>
              </a:rPr>
              <a:t>Not a generic chatbot — a learning platform designed for a focused Grade 12 Mathematics launch.</a:t>
            </a:r>
            <a:endParaRPr lang="en-US" sz="126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71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514"/>
          </a:solidFill>
          <a:ln w="12700">
            <a:solidFill>
              <a:srgbClr val="071514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4100F"/>
          </a:solidFill>
          <a:ln w="12700">
            <a:solidFill>
              <a:srgbClr val="04100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18A7B">
              <a:alpha val="75000"/>
            </a:srgbClr>
          </a:solidFill>
          <a:ln w="12700">
            <a:solidFill>
              <a:srgbClr val="118A7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320040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5FBF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Product already working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548640" y="749808"/>
            <a:ext cx="6675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8C7C4"/>
                </a:solidFill>
              </a:rPr>
              <a:t>A real app experience has been recorded and demonstrated.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9646920" y="301752"/>
            <a:ext cx="1965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43E6CF"/>
                </a:solidFill>
              </a:rPr>
              <a:t>SharperTime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646920" y="713232"/>
            <a:ext cx="1965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8C7C4"/>
                </a:solidFill>
              </a:rPr>
              <a:t>Google Africa Applied AI Lab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475488" y="1234440"/>
            <a:ext cx="2468880" cy="4526280"/>
          </a:xfrm>
          <a:prstGeom prst="roundRect">
            <a:avLst>
              <a:gd name="adj" fmla="val 2963"/>
            </a:avLst>
          </a:prstGeom>
          <a:solidFill>
            <a:srgbClr val="F6FAF9"/>
          </a:solidFill>
          <a:ln w="12700">
            <a:solidFill>
              <a:srgbClr val="21403A">
                <a:alpha val="45000"/>
              </a:srgbClr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8000"/>
              </a:srgbClr>
            </a:outerShdw>
          </a:effectLst>
        </p:spPr>
      </p:sp>
      <p:pic>
        <p:nvPicPr>
          <p:cNvPr id="10" name="Image 0" descr="/mnt/data/d769abef-5a64-4a18-97c7-b9359106ecf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5216" y="2746835"/>
            <a:ext cx="2249424" cy="1190595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585216" y="5495544"/>
            <a:ext cx="22494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172321"/>
                </a:solidFill>
              </a:rPr>
              <a:t>Choose grade</a:t>
            </a:r>
            <a:endParaRPr lang="en-US" sz="1080" dirty="0"/>
          </a:p>
        </p:txBody>
      </p:sp>
      <p:sp>
        <p:nvSpPr>
          <p:cNvPr id="12" name="Shape 9"/>
          <p:cNvSpPr/>
          <p:nvPr/>
        </p:nvSpPr>
        <p:spPr>
          <a:xfrm>
            <a:off x="3410712" y="1234440"/>
            <a:ext cx="2468880" cy="4526280"/>
          </a:xfrm>
          <a:prstGeom prst="roundRect">
            <a:avLst>
              <a:gd name="adj" fmla="val 2963"/>
            </a:avLst>
          </a:prstGeom>
          <a:solidFill>
            <a:srgbClr val="F6FAF9"/>
          </a:solidFill>
          <a:ln w="12700">
            <a:solidFill>
              <a:srgbClr val="21403A">
                <a:alpha val="45000"/>
              </a:srgbClr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8000"/>
              </a:srgbClr>
            </a:outerShdw>
          </a:effectLst>
        </p:spPr>
      </p:sp>
      <p:pic>
        <p:nvPicPr>
          <p:cNvPr id="13" name="Image 1" descr="/mnt/data/bb10cbe6-adeb-4d5d-b571-91dd7210421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0440" y="2754561"/>
            <a:ext cx="2249424" cy="117514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3520440" y="5495544"/>
            <a:ext cx="22494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172321"/>
                </a:solidFill>
              </a:rPr>
              <a:t>Select topic / mode</a:t>
            </a:r>
            <a:endParaRPr lang="en-US" sz="1080" dirty="0"/>
          </a:p>
        </p:txBody>
      </p:sp>
      <p:sp>
        <p:nvSpPr>
          <p:cNvPr id="15" name="Shape 11"/>
          <p:cNvSpPr/>
          <p:nvPr/>
        </p:nvSpPr>
        <p:spPr>
          <a:xfrm>
            <a:off x="6345936" y="1234440"/>
            <a:ext cx="2468880" cy="4526280"/>
          </a:xfrm>
          <a:prstGeom prst="roundRect">
            <a:avLst>
              <a:gd name="adj" fmla="val 2963"/>
            </a:avLst>
          </a:prstGeom>
          <a:solidFill>
            <a:srgbClr val="F6FAF9"/>
          </a:solidFill>
          <a:ln w="12700">
            <a:solidFill>
              <a:srgbClr val="21403A">
                <a:alpha val="45000"/>
              </a:srgbClr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8000"/>
              </a:srgbClr>
            </a:outerShdw>
          </a:effectLst>
        </p:spPr>
      </p:sp>
      <p:pic>
        <p:nvPicPr>
          <p:cNvPr id="16" name="Image 2" descr="/mnt/data/pitch_assets/hint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55664" y="2709482"/>
            <a:ext cx="2249424" cy="1265301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455664" y="5495544"/>
            <a:ext cx="22494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172321"/>
                </a:solidFill>
              </a:rPr>
              <a:t>Get a hint</a:t>
            </a:r>
            <a:endParaRPr lang="en-US" sz="1080" dirty="0"/>
          </a:p>
        </p:txBody>
      </p:sp>
      <p:sp>
        <p:nvSpPr>
          <p:cNvPr id="18" name="Shape 13"/>
          <p:cNvSpPr/>
          <p:nvPr/>
        </p:nvSpPr>
        <p:spPr>
          <a:xfrm>
            <a:off x="9281160" y="1234440"/>
            <a:ext cx="2468880" cy="4526280"/>
          </a:xfrm>
          <a:prstGeom prst="roundRect">
            <a:avLst>
              <a:gd name="adj" fmla="val 2963"/>
            </a:avLst>
          </a:prstGeom>
          <a:solidFill>
            <a:srgbClr val="F6FAF9"/>
          </a:solidFill>
          <a:ln w="12700">
            <a:solidFill>
              <a:srgbClr val="21403A">
                <a:alpha val="45000"/>
              </a:srgbClr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8000"/>
              </a:srgbClr>
            </a:outerShdw>
          </a:effectLst>
        </p:spPr>
      </p:sp>
      <p:pic>
        <p:nvPicPr>
          <p:cNvPr id="19" name="Image 3" descr="/mnt/data/pitch_assets/correct_marking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90888" y="2709482"/>
            <a:ext cx="2249424" cy="1265301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9390888" y="5495544"/>
            <a:ext cx="22494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172321"/>
                </a:solidFill>
              </a:rPr>
              <a:t>Receive marking</a:t>
            </a:r>
            <a:endParaRPr lang="en-US" sz="1080" dirty="0"/>
          </a:p>
        </p:txBody>
      </p:sp>
      <p:sp>
        <p:nvSpPr>
          <p:cNvPr id="21" name="Text 15"/>
          <p:cNvSpPr/>
          <p:nvPr/>
        </p:nvSpPr>
        <p:spPr>
          <a:xfrm>
            <a:off x="822960" y="5989320"/>
            <a:ext cx="10469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30" dirty="0">
                <a:solidFill>
                  <a:srgbClr val="F5FBFA"/>
                </a:solidFill>
              </a:rPr>
              <a:t>The product demo shows the actual app: topic choice, difficulty selection, hints, answer entry and diagnostic correction feedback.</a:t>
            </a:r>
            <a:endParaRPr lang="en-US" sz="143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71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514"/>
          </a:solidFill>
          <a:ln w="12700">
            <a:solidFill>
              <a:srgbClr val="071514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4100F"/>
          </a:solidFill>
          <a:ln w="12700">
            <a:solidFill>
              <a:srgbClr val="04100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18A7B">
              <a:alpha val="75000"/>
            </a:srgbClr>
          </a:solidFill>
          <a:ln w="12700">
            <a:solidFill>
              <a:srgbClr val="118A7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320040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5FBF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AI tutoring and practice workflow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548640" y="749808"/>
            <a:ext cx="6675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8C7C4"/>
                </a:solidFill>
              </a:rPr>
              <a:t>The learner does the work; the app guides, checks and explains.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9646920" y="301752"/>
            <a:ext cx="1965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43E6CF"/>
                </a:solidFill>
              </a:rPr>
              <a:t>SharperTime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646920" y="713232"/>
            <a:ext cx="1965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8C7C4"/>
                </a:solidFill>
              </a:rPr>
              <a:t>Google Africa Applied AI Lab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640080" y="1097280"/>
            <a:ext cx="3474720" cy="2880360"/>
          </a:xfrm>
          <a:prstGeom prst="roundRect">
            <a:avLst>
              <a:gd name="adj" fmla="val 2540"/>
            </a:avLst>
          </a:prstGeom>
          <a:solidFill>
            <a:srgbClr val="F6FAF9"/>
          </a:solidFill>
          <a:ln w="12700">
            <a:solidFill>
              <a:srgbClr val="21403A">
                <a:alpha val="45000"/>
              </a:srgbClr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8000"/>
              </a:srgbClr>
            </a:outerShdw>
          </a:effectLst>
        </p:spPr>
      </p:sp>
      <p:pic>
        <p:nvPicPr>
          <p:cNvPr id="10" name="Image 0" descr="/mnt/data/pitch_assets/hin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1466469"/>
            <a:ext cx="3255264" cy="183108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749808" y="3712464"/>
            <a:ext cx="32552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172321"/>
                </a:solidFill>
              </a:rPr>
              <a:t>Optional hints and formulas</a:t>
            </a:r>
            <a:endParaRPr lang="en-US" sz="1080" dirty="0"/>
          </a:p>
        </p:txBody>
      </p:sp>
      <p:sp>
        <p:nvSpPr>
          <p:cNvPr id="12" name="Shape 9"/>
          <p:cNvSpPr/>
          <p:nvPr/>
        </p:nvSpPr>
        <p:spPr>
          <a:xfrm>
            <a:off x="4370832" y="1097280"/>
            <a:ext cx="3474720" cy="2880360"/>
          </a:xfrm>
          <a:prstGeom prst="roundRect">
            <a:avLst>
              <a:gd name="adj" fmla="val 2540"/>
            </a:avLst>
          </a:prstGeom>
          <a:solidFill>
            <a:srgbClr val="F6FAF9"/>
          </a:solidFill>
          <a:ln w="12700">
            <a:solidFill>
              <a:srgbClr val="21403A">
                <a:alpha val="45000"/>
              </a:srgbClr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8000"/>
              </a:srgbClr>
            </a:outerShdw>
          </a:effectLst>
        </p:spPr>
      </p:sp>
      <p:pic>
        <p:nvPicPr>
          <p:cNvPr id="13" name="Image 1" descr="/mnt/data/pitch_assets/correct_markin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0560" y="1466469"/>
            <a:ext cx="3255264" cy="1831086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480560" y="3712464"/>
            <a:ext cx="32552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172321"/>
                </a:solidFill>
              </a:rPr>
              <a:t>Diagnostic marking</a:t>
            </a:r>
            <a:endParaRPr lang="en-US" sz="1080" dirty="0"/>
          </a:p>
        </p:txBody>
      </p:sp>
      <p:sp>
        <p:nvSpPr>
          <p:cNvPr id="15" name="Shape 11"/>
          <p:cNvSpPr/>
          <p:nvPr/>
        </p:nvSpPr>
        <p:spPr>
          <a:xfrm>
            <a:off x="8101584" y="1097280"/>
            <a:ext cx="3474720" cy="2880360"/>
          </a:xfrm>
          <a:prstGeom prst="roundRect">
            <a:avLst>
              <a:gd name="adj" fmla="val 2540"/>
            </a:avLst>
          </a:prstGeom>
          <a:solidFill>
            <a:srgbClr val="F6FAF9"/>
          </a:solidFill>
          <a:ln w="12700">
            <a:solidFill>
              <a:srgbClr val="21403A">
                <a:alpha val="45000"/>
              </a:srgbClr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8000"/>
              </a:srgbClr>
            </a:outerShdw>
          </a:effectLst>
        </p:spPr>
      </p:sp>
      <p:pic>
        <p:nvPicPr>
          <p:cNvPr id="16" name="Image 2" descr="/mnt/data/pitch_assets/voice_revie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11312" y="1466469"/>
            <a:ext cx="3255264" cy="1831086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211312" y="3712464"/>
            <a:ext cx="32552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172321"/>
                </a:solidFill>
              </a:rPr>
              <a:t>Review before sending</a:t>
            </a:r>
            <a:endParaRPr lang="en-US" sz="1080" dirty="0"/>
          </a:p>
        </p:txBody>
      </p:sp>
      <p:sp>
        <p:nvSpPr>
          <p:cNvPr id="18" name="Shape 13"/>
          <p:cNvSpPr/>
          <p:nvPr/>
        </p:nvSpPr>
        <p:spPr>
          <a:xfrm>
            <a:off x="822960" y="4389120"/>
            <a:ext cx="10515600" cy="1389888"/>
          </a:xfrm>
          <a:prstGeom prst="roundRect">
            <a:avLst>
              <a:gd name="adj" fmla="val 7895"/>
            </a:avLst>
          </a:prstGeom>
          <a:solidFill>
            <a:srgbClr val="142D29"/>
          </a:solidFill>
          <a:ln w="12700">
            <a:solidFill>
              <a:srgbClr val="118A7B">
                <a:alpha val="55000"/>
              </a:srgbClr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8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1078992" y="4681728"/>
            <a:ext cx="411480" cy="411480"/>
          </a:xfrm>
          <a:prstGeom prst="ellipse">
            <a:avLst/>
          </a:prstGeom>
          <a:solidFill>
            <a:srgbClr val="43E6CF"/>
          </a:solidFill>
          <a:ln w="12700">
            <a:solidFill>
              <a:srgbClr val="43E6CF">
                <a:alpha val="0"/>
              </a:srgbClr>
            </a:solidFill>
            <a:prstDash val="solid"/>
          </a:ln>
        </p:spPr>
      </p:sp>
      <p:sp>
        <p:nvSpPr>
          <p:cNvPr id="20" name="Text 15"/>
          <p:cNvSpPr/>
          <p:nvPr/>
        </p:nvSpPr>
        <p:spPr>
          <a:xfrm>
            <a:off x="1078992" y="4791456"/>
            <a:ext cx="411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1514"/>
                </a:solidFill>
              </a:rPr>
              <a:t>1</a:t>
            </a:r>
            <a:endParaRPr lang="en-US" sz="1100" dirty="0"/>
          </a:p>
        </p:txBody>
      </p:sp>
      <p:sp>
        <p:nvSpPr>
          <p:cNvPr id="21" name="Text 16"/>
          <p:cNvSpPr/>
          <p:nvPr/>
        </p:nvSpPr>
        <p:spPr>
          <a:xfrm>
            <a:off x="1645920" y="4645152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30" b="1" dirty="0">
                <a:solidFill>
                  <a:srgbClr val="F5FBFA"/>
                </a:solidFill>
              </a:rPr>
              <a:t>Select topic and difficulty</a:t>
            </a:r>
            <a:endParaRPr lang="en-US" sz="1330" dirty="0"/>
          </a:p>
        </p:txBody>
      </p:sp>
      <p:sp>
        <p:nvSpPr>
          <p:cNvPr id="22" name="Shape 17"/>
          <p:cNvSpPr/>
          <p:nvPr/>
        </p:nvSpPr>
        <p:spPr>
          <a:xfrm>
            <a:off x="3621024" y="4681728"/>
            <a:ext cx="411480" cy="411480"/>
          </a:xfrm>
          <a:prstGeom prst="ellipse">
            <a:avLst/>
          </a:prstGeom>
          <a:solidFill>
            <a:srgbClr val="43E6CF"/>
          </a:solidFill>
          <a:ln w="12700">
            <a:solidFill>
              <a:srgbClr val="43E6CF">
                <a:alpha val="0"/>
              </a:srgbClr>
            </a:solidFill>
            <a:prstDash val="solid"/>
          </a:ln>
        </p:spPr>
      </p:sp>
      <p:sp>
        <p:nvSpPr>
          <p:cNvPr id="23" name="Text 18"/>
          <p:cNvSpPr/>
          <p:nvPr/>
        </p:nvSpPr>
        <p:spPr>
          <a:xfrm>
            <a:off x="3621024" y="4791456"/>
            <a:ext cx="411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1514"/>
                </a:solidFill>
              </a:rPr>
              <a:t>2</a:t>
            </a:r>
            <a:endParaRPr lang="en-US" sz="1100" dirty="0"/>
          </a:p>
        </p:txBody>
      </p:sp>
      <p:sp>
        <p:nvSpPr>
          <p:cNvPr id="24" name="Text 19"/>
          <p:cNvSpPr/>
          <p:nvPr/>
        </p:nvSpPr>
        <p:spPr>
          <a:xfrm>
            <a:off x="4187952" y="4645152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30" b="1" dirty="0">
                <a:solidFill>
                  <a:srgbClr val="F5FBFA"/>
                </a:solidFill>
              </a:rPr>
              <a:t>Attempt a real question</a:t>
            </a:r>
            <a:endParaRPr lang="en-US" sz="1330" dirty="0"/>
          </a:p>
        </p:txBody>
      </p:sp>
      <p:sp>
        <p:nvSpPr>
          <p:cNvPr id="25" name="Shape 20"/>
          <p:cNvSpPr/>
          <p:nvPr/>
        </p:nvSpPr>
        <p:spPr>
          <a:xfrm>
            <a:off x="6163056" y="4681728"/>
            <a:ext cx="411480" cy="411480"/>
          </a:xfrm>
          <a:prstGeom prst="ellipse">
            <a:avLst/>
          </a:prstGeom>
          <a:solidFill>
            <a:srgbClr val="43E6CF"/>
          </a:solidFill>
          <a:ln w="12700">
            <a:solidFill>
              <a:srgbClr val="43E6CF">
                <a:alpha val="0"/>
              </a:srgbClr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6163056" y="4791456"/>
            <a:ext cx="411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1514"/>
                </a:solidFill>
              </a:rPr>
              <a:t>3</a:t>
            </a:r>
            <a:endParaRPr lang="en-US" sz="1100" dirty="0"/>
          </a:p>
        </p:txBody>
      </p:sp>
      <p:sp>
        <p:nvSpPr>
          <p:cNvPr id="27" name="Text 22"/>
          <p:cNvSpPr/>
          <p:nvPr/>
        </p:nvSpPr>
        <p:spPr>
          <a:xfrm>
            <a:off x="6729984" y="4645152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30" b="1" dirty="0">
                <a:solidFill>
                  <a:srgbClr val="F5FBFA"/>
                </a:solidFill>
              </a:rPr>
              <a:t>Ask for hint when needed</a:t>
            </a:r>
            <a:endParaRPr lang="en-US" sz="1330" dirty="0"/>
          </a:p>
        </p:txBody>
      </p:sp>
      <p:sp>
        <p:nvSpPr>
          <p:cNvPr id="28" name="Shape 23"/>
          <p:cNvSpPr/>
          <p:nvPr/>
        </p:nvSpPr>
        <p:spPr>
          <a:xfrm>
            <a:off x="8705088" y="4681728"/>
            <a:ext cx="411480" cy="411480"/>
          </a:xfrm>
          <a:prstGeom prst="ellipse">
            <a:avLst/>
          </a:prstGeom>
          <a:solidFill>
            <a:srgbClr val="43E6CF"/>
          </a:solidFill>
          <a:ln w="12700">
            <a:solidFill>
              <a:srgbClr val="43E6CF">
                <a:alpha val="0"/>
              </a:srgbClr>
            </a:solidFill>
            <a:prstDash val="solid"/>
          </a:ln>
        </p:spPr>
      </p:sp>
      <p:sp>
        <p:nvSpPr>
          <p:cNvPr id="29" name="Text 24"/>
          <p:cNvSpPr/>
          <p:nvPr/>
        </p:nvSpPr>
        <p:spPr>
          <a:xfrm>
            <a:off x="8705088" y="4791456"/>
            <a:ext cx="411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1514"/>
                </a:solidFill>
              </a:rPr>
              <a:t>4</a:t>
            </a:r>
            <a:endParaRPr lang="en-US" sz="1100" dirty="0"/>
          </a:p>
        </p:txBody>
      </p:sp>
      <p:sp>
        <p:nvSpPr>
          <p:cNvPr id="30" name="Text 25"/>
          <p:cNvSpPr/>
          <p:nvPr/>
        </p:nvSpPr>
        <p:spPr>
          <a:xfrm>
            <a:off x="9272016" y="4645152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30" b="1" dirty="0">
                <a:solidFill>
                  <a:srgbClr val="F5FBFA"/>
                </a:solidFill>
              </a:rPr>
              <a:t>Receive marking and correction</a:t>
            </a:r>
            <a:endParaRPr lang="en-US" sz="1330" dirty="0"/>
          </a:p>
        </p:txBody>
      </p:sp>
      <p:sp>
        <p:nvSpPr>
          <p:cNvPr id="31" name="Text 26"/>
          <p:cNvSpPr/>
          <p:nvPr/>
        </p:nvSpPr>
        <p:spPr>
          <a:xfrm>
            <a:off x="1097280" y="5998464"/>
            <a:ext cx="9966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70" dirty="0">
                <a:solidFill>
                  <a:srgbClr val="B8C7C4"/>
                </a:solidFill>
              </a:rPr>
              <a:t>The current product focuses on user-selected difficulty, hints and corrective feedback rather than giving full solutions as the default learner experience.</a:t>
            </a:r>
            <a:endParaRPr lang="en-US" sz="127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71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514"/>
          </a:solidFill>
          <a:ln w="12700">
            <a:solidFill>
              <a:srgbClr val="071514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4100F"/>
          </a:solidFill>
          <a:ln w="12700">
            <a:solidFill>
              <a:srgbClr val="04100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18A7B">
              <a:alpha val="75000"/>
            </a:srgbClr>
          </a:solidFill>
          <a:ln w="12700">
            <a:solidFill>
              <a:srgbClr val="118A7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320040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5FBF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Multimodal AI learning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548640" y="749808"/>
            <a:ext cx="6675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8C7C4"/>
                </a:solidFill>
              </a:rPr>
              <a:t>SharperTime works with the way learners actually produce mathematics.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9646920" y="301752"/>
            <a:ext cx="1965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43E6CF"/>
                </a:solidFill>
              </a:rPr>
              <a:t>SharperTime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646920" y="713232"/>
            <a:ext cx="1965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8C7C4"/>
                </a:solidFill>
              </a:rPr>
              <a:t>Google Africa Applied AI Lab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594360" y="1170432"/>
            <a:ext cx="2377440" cy="1965960"/>
          </a:xfrm>
          <a:prstGeom prst="roundRect">
            <a:avLst>
              <a:gd name="adj" fmla="val 3721"/>
            </a:avLst>
          </a:prstGeom>
          <a:solidFill>
            <a:srgbClr val="F6FAF9"/>
          </a:solidFill>
          <a:ln w="12700">
            <a:solidFill>
              <a:srgbClr val="21403A">
                <a:alpha val="45000"/>
              </a:srgbClr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8000"/>
              </a:srgbClr>
            </a:outerShdw>
          </a:effectLst>
        </p:spPr>
      </p:sp>
      <p:pic>
        <p:nvPicPr>
          <p:cNvPr id="10" name="Image 0" descr="/mnt/data/437ea6aa-e680-4ae9-9e43-3295423f724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6008" y="1280160"/>
            <a:ext cx="1914144" cy="1435608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704088" y="2871216"/>
            <a:ext cx="21579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172321"/>
                </a:solidFill>
              </a:rPr>
              <a:t>Handwritten solution</a:t>
            </a:r>
            <a:endParaRPr lang="en-US" sz="1080" dirty="0"/>
          </a:p>
        </p:txBody>
      </p:sp>
      <p:sp>
        <p:nvSpPr>
          <p:cNvPr id="12" name="Shape 9"/>
          <p:cNvSpPr/>
          <p:nvPr/>
        </p:nvSpPr>
        <p:spPr>
          <a:xfrm>
            <a:off x="594360" y="3346704"/>
            <a:ext cx="2377440" cy="2148840"/>
          </a:xfrm>
          <a:prstGeom prst="roundRect">
            <a:avLst>
              <a:gd name="adj" fmla="val 3404"/>
            </a:avLst>
          </a:prstGeom>
          <a:solidFill>
            <a:srgbClr val="F6FAF9"/>
          </a:solidFill>
          <a:ln w="12700">
            <a:solidFill>
              <a:srgbClr val="21403A">
                <a:alpha val="45000"/>
              </a:srgbClr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8000"/>
              </a:srgbClr>
            </a:outerShdw>
          </a:effectLst>
        </p:spPr>
      </p:sp>
      <p:pic>
        <p:nvPicPr>
          <p:cNvPr id="13" name="Image 1" descr="/mnt/data/324a6320-d1e2-47e9-bce8-0772629ae2e7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6147" y="3456432"/>
            <a:ext cx="1213866" cy="161848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04088" y="5230368"/>
            <a:ext cx="21579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172321"/>
                </a:solidFill>
              </a:rPr>
              <a:t>Hand-drawn graph</a:t>
            </a:r>
            <a:endParaRPr lang="en-US" sz="1080" dirty="0"/>
          </a:p>
        </p:txBody>
      </p:sp>
      <p:sp>
        <p:nvSpPr>
          <p:cNvPr id="15" name="Shape 11"/>
          <p:cNvSpPr/>
          <p:nvPr/>
        </p:nvSpPr>
        <p:spPr>
          <a:xfrm>
            <a:off x="3246120" y="1170432"/>
            <a:ext cx="3703320" cy="1965960"/>
          </a:xfrm>
          <a:prstGeom prst="roundRect">
            <a:avLst>
              <a:gd name="adj" fmla="val 3721"/>
            </a:avLst>
          </a:prstGeom>
          <a:solidFill>
            <a:srgbClr val="F6FAF9"/>
          </a:solidFill>
          <a:ln w="12700">
            <a:solidFill>
              <a:srgbClr val="21403A">
                <a:alpha val="45000"/>
              </a:srgbClr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8000"/>
              </a:srgbClr>
            </a:outerShdw>
          </a:effectLst>
        </p:spPr>
      </p:sp>
      <p:pic>
        <p:nvPicPr>
          <p:cNvPr id="16" name="Image 2" descr="/mnt/data/pitch_assets/voice_to_math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21684" y="1280160"/>
            <a:ext cx="2552192" cy="14356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3355848" y="2871216"/>
            <a:ext cx="3483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172321"/>
                </a:solidFill>
              </a:rPr>
              <a:t>Voice to maths</a:t>
            </a:r>
            <a:endParaRPr lang="en-US" sz="1080" dirty="0"/>
          </a:p>
        </p:txBody>
      </p:sp>
      <p:sp>
        <p:nvSpPr>
          <p:cNvPr id="18" name="Shape 13"/>
          <p:cNvSpPr/>
          <p:nvPr/>
        </p:nvSpPr>
        <p:spPr>
          <a:xfrm>
            <a:off x="3246120" y="3346704"/>
            <a:ext cx="3703320" cy="2148840"/>
          </a:xfrm>
          <a:prstGeom prst="roundRect">
            <a:avLst>
              <a:gd name="adj" fmla="val 3404"/>
            </a:avLst>
          </a:prstGeom>
          <a:solidFill>
            <a:srgbClr val="F6FAF9"/>
          </a:solidFill>
          <a:ln w="12700">
            <a:solidFill>
              <a:srgbClr val="21403A">
                <a:alpha val="45000"/>
              </a:srgbClr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8000"/>
              </a:srgbClr>
            </a:outerShdw>
          </a:effectLst>
        </p:spPr>
      </p:sp>
      <p:pic>
        <p:nvPicPr>
          <p:cNvPr id="19" name="Image 3" descr="/mnt/data/pitch_assets/camera_graph_respons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9124" y="3456432"/>
            <a:ext cx="2877312" cy="1618488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3355848" y="5230368"/>
            <a:ext cx="3483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172321"/>
                </a:solidFill>
              </a:rPr>
              <a:t>Image upload and analysis</a:t>
            </a:r>
            <a:endParaRPr lang="en-US" sz="1080" dirty="0"/>
          </a:p>
        </p:txBody>
      </p:sp>
      <p:sp>
        <p:nvSpPr>
          <p:cNvPr id="21" name="Text 15"/>
          <p:cNvSpPr/>
          <p:nvPr/>
        </p:nvSpPr>
        <p:spPr>
          <a:xfrm>
            <a:off x="7680960" y="1481328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9C35B"/>
                </a:solidFill>
              </a:rPr>
              <a:t>Inputs</a:t>
            </a:r>
            <a:endParaRPr lang="en-US" sz="1600" dirty="0"/>
          </a:p>
        </p:txBody>
      </p:sp>
      <p:sp>
        <p:nvSpPr>
          <p:cNvPr id="22" name="Shape 16"/>
          <p:cNvSpPr/>
          <p:nvPr/>
        </p:nvSpPr>
        <p:spPr>
          <a:xfrm>
            <a:off x="7680960" y="1883664"/>
            <a:ext cx="128016" cy="128016"/>
          </a:xfrm>
          <a:prstGeom prst="ellipse">
            <a:avLst/>
          </a:prstGeom>
          <a:solidFill>
            <a:srgbClr val="43E6CF"/>
          </a:solidFill>
          <a:ln w="12700">
            <a:solidFill>
              <a:srgbClr val="43E6CF">
                <a:alpha val="0"/>
              </a:srgbClr>
            </a:solidFill>
            <a:prstDash val="solid"/>
          </a:ln>
        </p:spPr>
      </p:sp>
      <p:sp>
        <p:nvSpPr>
          <p:cNvPr id="23" name="Text 17"/>
          <p:cNvSpPr/>
          <p:nvPr/>
        </p:nvSpPr>
        <p:spPr>
          <a:xfrm>
            <a:off x="7909560" y="1828800"/>
            <a:ext cx="3429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30" dirty="0">
                <a:solidFill>
                  <a:srgbClr val="B8C7C4"/>
                </a:solidFill>
              </a:rPr>
              <a:t>Typed mathematics</a:t>
            </a:r>
            <a:endParaRPr lang="en-US" sz="1330" dirty="0"/>
          </a:p>
        </p:txBody>
      </p:sp>
      <p:sp>
        <p:nvSpPr>
          <p:cNvPr id="24" name="Shape 18"/>
          <p:cNvSpPr/>
          <p:nvPr/>
        </p:nvSpPr>
        <p:spPr>
          <a:xfrm>
            <a:off x="7680960" y="2377440"/>
            <a:ext cx="128016" cy="128016"/>
          </a:xfrm>
          <a:prstGeom prst="ellipse">
            <a:avLst/>
          </a:prstGeom>
          <a:solidFill>
            <a:srgbClr val="43E6CF"/>
          </a:solidFill>
          <a:ln w="12700">
            <a:solidFill>
              <a:srgbClr val="43E6CF">
                <a:alpha val="0"/>
              </a:srgbClr>
            </a:solidFill>
            <a:prstDash val="solid"/>
          </a:ln>
        </p:spPr>
      </p:sp>
      <p:sp>
        <p:nvSpPr>
          <p:cNvPr id="25" name="Text 19"/>
          <p:cNvSpPr/>
          <p:nvPr/>
        </p:nvSpPr>
        <p:spPr>
          <a:xfrm>
            <a:off x="7909560" y="2322576"/>
            <a:ext cx="3429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30" dirty="0">
                <a:solidFill>
                  <a:srgbClr val="B8C7C4"/>
                </a:solidFill>
              </a:rPr>
              <a:t>Voice converted into mathematical notation</a:t>
            </a:r>
            <a:endParaRPr lang="en-US" sz="1330" dirty="0"/>
          </a:p>
        </p:txBody>
      </p:sp>
      <p:sp>
        <p:nvSpPr>
          <p:cNvPr id="26" name="Shape 20"/>
          <p:cNvSpPr/>
          <p:nvPr/>
        </p:nvSpPr>
        <p:spPr>
          <a:xfrm>
            <a:off x="7680960" y="2871216"/>
            <a:ext cx="128016" cy="128016"/>
          </a:xfrm>
          <a:prstGeom prst="ellipse">
            <a:avLst/>
          </a:prstGeom>
          <a:solidFill>
            <a:srgbClr val="43E6CF"/>
          </a:solidFill>
          <a:ln w="12700">
            <a:solidFill>
              <a:srgbClr val="43E6CF">
                <a:alpha val="0"/>
              </a:srgbClr>
            </a:solidFill>
            <a:prstDash val="solid"/>
          </a:ln>
        </p:spPr>
      </p:sp>
      <p:sp>
        <p:nvSpPr>
          <p:cNvPr id="27" name="Text 21"/>
          <p:cNvSpPr/>
          <p:nvPr/>
        </p:nvSpPr>
        <p:spPr>
          <a:xfrm>
            <a:off x="7909560" y="2816352"/>
            <a:ext cx="3429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30" dirty="0">
                <a:solidFill>
                  <a:srgbClr val="B8C7C4"/>
                </a:solidFill>
              </a:rPr>
              <a:t>Textbook and photo uploads</a:t>
            </a:r>
            <a:endParaRPr lang="en-US" sz="1330" dirty="0"/>
          </a:p>
        </p:txBody>
      </p:sp>
      <p:sp>
        <p:nvSpPr>
          <p:cNvPr id="28" name="Shape 22"/>
          <p:cNvSpPr/>
          <p:nvPr/>
        </p:nvSpPr>
        <p:spPr>
          <a:xfrm>
            <a:off x="7680960" y="3364992"/>
            <a:ext cx="128016" cy="128016"/>
          </a:xfrm>
          <a:prstGeom prst="ellipse">
            <a:avLst/>
          </a:prstGeom>
          <a:solidFill>
            <a:srgbClr val="43E6CF"/>
          </a:solidFill>
          <a:ln w="12700">
            <a:solidFill>
              <a:srgbClr val="43E6CF">
                <a:alpha val="0"/>
              </a:srgbClr>
            </a:solidFill>
            <a:prstDash val="solid"/>
          </a:ln>
        </p:spPr>
      </p:sp>
      <p:sp>
        <p:nvSpPr>
          <p:cNvPr id="29" name="Text 23"/>
          <p:cNvSpPr/>
          <p:nvPr/>
        </p:nvSpPr>
        <p:spPr>
          <a:xfrm>
            <a:off x="7909560" y="3310128"/>
            <a:ext cx="3429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30" dirty="0">
                <a:solidFill>
                  <a:srgbClr val="B8C7C4"/>
                </a:solidFill>
              </a:rPr>
              <a:t>Handwritten working and graphs</a:t>
            </a:r>
            <a:endParaRPr lang="en-US" sz="1330" dirty="0"/>
          </a:p>
        </p:txBody>
      </p:sp>
      <p:sp>
        <p:nvSpPr>
          <p:cNvPr id="30" name="Text 24"/>
          <p:cNvSpPr/>
          <p:nvPr/>
        </p:nvSpPr>
        <p:spPr>
          <a:xfrm>
            <a:off x="7680960" y="36576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9C35B"/>
                </a:solidFill>
              </a:rPr>
              <a:t>Outputs</a:t>
            </a:r>
            <a:endParaRPr lang="en-US" sz="1600" dirty="0"/>
          </a:p>
        </p:txBody>
      </p:sp>
      <p:sp>
        <p:nvSpPr>
          <p:cNvPr id="31" name="Shape 25"/>
          <p:cNvSpPr/>
          <p:nvPr/>
        </p:nvSpPr>
        <p:spPr>
          <a:xfrm>
            <a:off x="7680960" y="4059936"/>
            <a:ext cx="128016" cy="128016"/>
          </a:xfrm>
          <a:prstGeom prst="ellipse">
            <a:avLst/>
          </a:prstGeom>
          <a:solidFill>
            <a:srgbClr val="43E6CF"/>
          </a:solidFill>
          <a:ln w="12700">
            <a:solidFill>
              <a:srgbClr val="43E6CF">
                <a:alpha val="0"/>
              </a:srgbClr>
            </a:solidFill>
            <a:prstDash val="solid"/>
          </a:ln>
        </p:spPr>
      </p:sp>
      <p:sp>
        <p:nvSpPr>
          <p:cNvPr id="32" name="Text 26"/>
          <p:cNvSpPr/>
          <p:nvPr/>
        </p:nvSpPr>
        <p:spPr>
          <a:xfrm>
            <a:off x="7909560" y="4005072"/>
            <a:ext cx="3429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30" dirty="0">
                <a:solidFill>
                  <a:srgbClr val="B8C7C4"/>
                </a:solidFill>
              </a:rPr>
              <a:t>Editable transcription and confirmation</a:t>
            </a:r>
            <a:endParaRPr lang="en-US" sz="1330" dirty="0"/>
          </a:p>
        </p:txBody>
      </p:sp>
      <p:sp>
        <p:nvSpPr>
          <p:cNvPr id="33" name="Shape 27"/>
          <p:cNvSpPr/>
          <p:nvPr/>
        </p:nvSpPr>
        <p:spPr>
          <a:xfrm>
            <a:off x="7680960" y="4553712"/>
            <a:ext cx="128016" cy="128016"/>
          </a:xfrm>
          <a:prstGeom prst="ellipse">
            <a:avLst/>
          </a:prstGeom>
          <a:solidFill>
            <a:srgbClr val="43E6CF"/>
          </a:solidFill>
          <a:ln w="12700">
            <a:solidFill>
              <a:srgbClr val="43E6CF">
                <a:alpha val="0"/>
              </a:srgbClr>
            </a:solidFill>
            <a:prstDash val="solid"/>
          </a:ln>
        </p:spPr>
      </p:sp>
      <p:sp>
        <p:nvSpPr>
          <p:cNvPr id="34" name="Text 28"/>
          <p:cNvSpPr/>
          <p:nvPr/>
        </p:nvSpPr>
        <p:spPr>
          <a:xfrm>
            <a:off x="7909560" y="4498848"/>
            <a:ext cx="3429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30" dirty="0">
                <a:solidFill>
                  <a:srgbClr val="B8C7C4"/>
                </a:solidFill>
              </a:rPr>
              <a:t>Mathematics reasoning and marking</a:t>
            </a:r>
            <a:endParaRPr lang="en-US" sz="1330" dirty="0"/>
          </a:p>
        </p:txBody>
      </p:sp>
      <p:sp>
        <p:nvSpPr>
          <p:cNvPr id="35" name="Shape 29"/>
          <p:cNvSpPr/>
          <p:nvPr/>
        </p:nvSpPr>
        <p:spPr>
          <a:xfrm>
            <a:off x="7680960" y="5047488"/>
            <a:ext cx="128016" cy="128016"/>
          </a:xfrm>
          <a:prstGeom prst="ellipse">
            <a:avLst/>
          </a:prstGeom>
          <a:solidFill>
            <a:srgbClr val="43E6CF"/>
          </a:solidFill>
          <a:ln w="12700">
            <a:solidFill>
              <a:srgbClr val="43E6CF">
                <a:alpha val="0"/>
              </a:srgbClr>
            </a:solidFill>
            <a:prstDash val="solid"/>
          </a:ln>
        </p:spPr>
      </p:sp>
      <p:sp>
        <p:nvSpPr>
          <p:cNvPr id="36" name="Text 30"/>
          <p:cNvSpPr/>
          <p:nvPr/>
        </p:nvSpPr>
        <p:spPr>
          <a:xfrm>
            <a:off x="7909560" y="4992624"/>
            <a:ext cx="3429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30" dirty="0">
                <a:solidFill>
                  <a:srgbClr val="B8C7C4"/>
                </a:solidFill>
              </a:rPr>
              <a:t>Specific feedback and correction</a:t>
            </a:r>
            <a:endParaRPr lang="en-US" sz="1330" dirty="0"/>
          </a:p>
        </p:txBody>
      </p:sp>
      <p:sp>
        <p:nvSpPr>
          <p:cNvPr id="37" name="Shape 31"/>
          <p:cNvSpPr/>
          <p:nvPr/>
        </p:nvSpPr>
        <p:spPr>
          <a:xfrm>
            <a:off x="7680960" y="5541264"/>
            <a:ext cx="128016" cy="128016"/>
          </a:xfrm>
          <a:prstGeom prst="ellipse">
            <a:avLst/>
          </a:prstGeom>
          <a:solidFill>
            <a:srgbClr val="43E6CF"/>
          </a:solidFill>
          <a:ln w="12700">
            <a:solidFill>
              <a:srgbClr val="43E6CF">
                <a:alpha val="0"/>
              </a:srgbClr>
            </a:solidFill>
            <a:prstDash val="solid"/>
          </a:ln>
        </p:spPr>
      </p:sp>
      <p:sp>
        <p:nvSpPr>
          <p:cNvPr id="38" name="Text 32"/>
          <p:cNvSpPr/>
          <p:nvPr/>
        </p:nvSpPr>
        <p:spPr>
          <a:xfrm>
            <a:off x="7909560" y="5486400"/>
            <a:ext cx="3429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30" dirty="0">
                <a:solidFill>
                  <a:srgbClr val="B8C7C4"/>
                </a:solidFill>
              </a:rPr>
              <a:t>Graph-aware responses</a:t>
            </a:r>
            <a:endParaRPr lang="en-US" sz="1330" dirty="0"/>
          </a:p>
        </p:txBody>
      </p:sp>
      <p:sp>
        <p:nvSpPr>
          <p:cNvPr id="39" name="Text 33"/>
          <p:cNvSpPr/>
          <p:nvPr/>
        </p:nvSpPr>
        <p:spPr>
          <a:xfrm>
            <a:off x="658368" y="6016752"/>
            <a:ext cx="10881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20" b="1" dirty="0">
                <a:solidFill>
                  <a:srgbClr val="F5FBFA"/>
                </a:solidFill>
              </a:rPr>
              <a:t>This matters because school mathematics is not just a text-chat problem.</a:t>
            </a:r>
            <a:endParaRPr lang="en-US" sz="142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71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514"/>
          </a:solidFill>
          <a:ln w="12700">
            <a:solidFill>
              <a:srgbClr val="071514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4100F"/>
          </a:solidFill>
          <a:ln w="12700">
            <a:solidFill>
              <a:srgbClr val="04100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18A7B">
              <a:alpha val="75000"/>
            </a:srgbClr>
          </a:solidFill>
          <a:ln w="12700">
            <a:solidFill>
              <a:srgbClr val="118A7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320040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5FBF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Lesson-video content engine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548640" y="749808"/>
            <a:ext cx="6675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8C7C4"/>
                </a:solidFill>
              </a:rPr>
              <a:t>Google AI tools can help create, refine and expand short CAPS-aligned lessons.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9646920" y="301752"/>
            <a:ext cx="1965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43E6CF"/>
                </a:solidFill>
              </a:rPr>
              <a:t>SharperTime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646920" y="713232"/>
            <a:ext cx="1965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8C7C4"/>
                </a:solidFill>
              </a:rPr>
              <a:t>Google Africa Applied AI Lab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640080" y="1170432"/>
            <a:ext cx="5257800" cy="2926080"/>
          </a:xfrm>
          <a:prstGeom prst="roundRect">
            <a:avLst>
              <a:gd name="adj" fmla="val 2500"/>
            </a:avLst>
          </a:prstGeom>
          <a:solidFill>
            <a:srgbClr val="F6FAF9"/>
          </a:solidFill>
          <a:ln w="12700">
            <a:solidFill>
              <a:srgbClr val="21403A">
                <a:alpha val="45000"/>
              </a:srgbClr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8000"/>
              </a:srgbClr>
            </a:outerShdw>
          </a:effectLst>
        </p:spPr>
      </p:sp>
      <p:pic>
        <p:nvPicPr>
          <p:cNvPr id="10" name="Image 0" descr="/mnt/data/pitch_assets/calculus_tit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9444" y="1280160"/>
            <a:ext cx="4259072" cy="2395728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749808" y="3831336"/>
            <a:ext cx="50383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172321"/>
                </a:solidFill>
              </a:rPr>
              <a:t>Differential Calculus lesson sample</a:t>
            </a:r>
            <a:endParaRPr lang="en-US" sz="1080" dirty="0"/>
          </a:p>
        </p:txBody>
      </p:sp>
      <p:sp>
        <p:nvSpPr>
          <p:cNvPr id="12" name="Shape 9"/>
          <p:cNvSpPr/>
          <p:nvPr/>
        </p:nvSpPr>
        <p:spPr>
          <a:xfrm>
            <a:off x="6291072" y="1170432"/>
            <a:ext cx="5257800" cy="2926080"/>
          </a:xfrm>
          <a:prstGeom prst="roundRect">
            <a:avLst>
              <a:gd name="adj" fmla="val 2500"/>
            </a:avLst>
          </a:prstGeom>
          <a:solidFill>
            <a:srgbClr val="F6FAF9"/>
          </a:solidFill>
          <a:ln w="12700">
            <a:solidFill>
              <a:srgbClr val="21403A">
                <a:alpha val="45000"/>
              </a:srgbClr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8000"/>
              </a:srgbClr>
            </a:outerShdw>
          </a:effectLst>
        </p:spPr>
      </p:sp>
      <p:pic>
        <p:nvPicPr>
          <p:cNvPr id="13" name="Image 1" descr="/mnt/data/pitch_assets/calculus_examp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90436" y="1280160"/>
            <a:ext cx="4259072" cy="239572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6400800" y="3831336"/>
            <a:ext cx="50383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172321"/>
                </a:solidFill>
              </a:rPr>
              <a:t>Worked-example teaching style</a:t>
            </a:r>
            <a:endParaRPr lang="en-US" sz="1080" dirty="0"/>
          </a:p>
        </p:txBody>
      </p:sp>
      <p:sp>
        <p:nvSpPr>
          <p:cNvPr id="15" name="Shape 11"/>
          <p:cNvSpPr/>
          <p:nvPr/>
        </p:nvSpPr>
        <p:spPr>
          <a:xfrm>
            <a:off x="658368" y="4462272"/>
            <a:ext cx="3474720" cy="1188720"/>
          </a:xfrm>
          <a:prstGeom prst="roundRect">
            <a:avLst>
              <a:gd name="adj" fmla="val 9231"/>
            </a:avLst>
          </a:prstGeom>
          <a:solidFill>
            <a:srgbClr val="142D29"/>
          </a:solidFill>
          <a:ln w="12700">
            <a:solidFill>
              <a:srgbClr val="43E6CF">
                <a:alpha val="65000"/>
              </a:srgbClr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877824" y="4681728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3E6CF"/>
                </a:solidFill>
              </a:rPr>
              <a:t>Initial focus</a:t>
            </a:r>
            <a:endParaRPr lang="en-US" sz="1350" dirty="0"/>
          </a:p>
        </p:txBody>
      </p:sp>
      <p:sp>
        <p:nvSpPr>
          <p:cNvPr id="17" name="Text 13"/>
          <p:cNvSpPr/>
          <p:nvPr/>
        </p:nvSpPr>
        <p:spPr>
          <a:xfrm>
            <a:off x="877824" y="4983480"/>
            <a:ext cx="2971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b="1" dirty="0">
                <a:solidFill>
                  <a:srgbClr val="F5FBFA"/>
                </a:solidFill>
              </a:rPr>
              <a:t>High-school Mathematics, starting with Grade 12.</a:t>
            </a:r>
            <a:endParaRPr lang="en-US" sz="1550" dirty="0"/>
          </a:p>
        </p:txBody>
      </p:sp>
      <p:sp>
        <p:nvSpPr>
          <p:cNvPr id="18" name="Shape 14"/>
          <p:cNvSpPr/>
          <p:nvPr/>
        </p:nvSpPr>
        <p:spPr>
          <a:xfrm>
            <a:off x="4352544" y="4462272"/>
            <a:ext cx="3474720" cy="1188720"/>
          </a:xfrm>
          <a:prstGeom prst="roundRect">
            <a:avLst>
              <a:gd name="adj" fmla="val 9231"/>
            </a:avLst>
          </a:prstGeom>
          <a:solidFill>
            <a:srgbClr val="142D29"/>
          </a:solidFill>
          <a:ln w="12700">
            <a:solidFill>
              <a:srgbClr val="E9C35B">
                <a:alpha val="65000"/>
              </a:srgbClr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4572000" y="4681728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9C35B"/>
                </a:solidFill>
              </a:rPr>
              <a:t>Content expansion</a:t>
            </a:r>
            <a:endParaRPr lang="en-US" sz="1350" dirty="0"/>
          </a:p>
        </p:txBody>
      </p:sp>
      <p:sp>
        <p:nvSpPr>
          <p:cNvPr id="20" name="Text 16"/>
          <p:cNvSpPr/>
          <p:nvPr/>
        </p:nvSpPr>
        <p:spPr>
          <a:xfrm>
            <a:off x="4572000" y="4983480"/>
            <a:ext cx="2971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b="1" dirty="0">
                <a:solidFill>
                  <a:srgbClr val="F5FBFA"/>
                </a:solidFill>
              </a:rPr>
              <a:t>All topics, subtopics and sections for each grade.</a:t>
            </a:r>
            <a:endParaRPr lang="en-US" sz="1550" dirty="0"/>
          </a:p>
        </p:txBody>
      </p:sp>
      <p:sp>
        <p:nvSpPr>
          <p:cNvPr id="21" name="Shape 17"/>
          <p:cNvSpPr/>
          <p:nvPr/>
        </p:nvSpPr>
        <p:spPr>
          <a:xfrm>
            <a:off x="8046720" y="4462272"/>
            <a:ext cx="3474720" cy="1188720"/>
          </a:xfrm>
          <a:prstGeom prst="roundRect">
            <a:avLst>
              <a:gd name="adj" fmla="val 9231"/>
            </a:avLst>
          </a:prstGeom>
          <a:solidFill>
            <a:srgbClr val="142D29"/>
          </a:solidFill>
          <a:ln w="12700">
            <a:solidFill>
              <a:srgbClr val="F29D52">
                <a:alpha val="65000"/>
              </a:srgbClr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266176" y="4681728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29D52"/>
                </a:solidFill>
              </a:rPr>
              <a:t>Future scope</a:t>
            </a:r>
            <a:endParaRPr lang="en-US" sz="1350" dirty="0"/>
          </a:p>
        </p:txBody>
      </p:sp>
      <p:sp>
        <p:nvSpPr>
          <p:cNvPr id="23" name="Text 19"/>
          <p:cNvSpPr/>
          <p:nvPr/>
        </p:nvSpPr>
        <p:spPr>
          <a:xfrm>
            <a:off x="8266176" y="4983480"/>
            <a:ext cx="2971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b="1" dirty="0">
                <a:solidFill>
                  <a:srgbClr val="F5FBFA"/>
                </a:solidFill>
              </a:rPr>
              <a:t>Other high-school subjects and TVET engineering.</a:t>
            </a:r>
            <a:endParaRPr lang="en-US" sz="15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71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514"/>
          </a:solidFill>
          <a:ln w="12700">
            <a:solidFill>
              <a:srgbClr val="071514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4100F"/>
          </a:solidFill>
          <a:ln w="12700">
            <a:solidFill>
              <a:srgbClr val="04100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18A7B">
              <a:alpha val="75000"/>
            </a:srgbClr>
          </a:solidFill>
          <a:ln w="12700">
            <a:solidFill>
              <a:srgbClr val="118A7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320040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5FBF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Why Google AI can accelerate SharperTime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548640" y="749808"/>
            <a:ext cx="6675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8C7C4"/>
                </a:solidFill>
              </a:rPr>
              <a:t>Google AI can become materially impactful across product quality and scale.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9646920" y="301752"/>
            <a:ext cx="1965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43E6CF"/>
                </a:solidFill>
              </a:rPr>
              <a:t>SharperTime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646920" y="713232"/>
            <a:ext cx="1965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8C7C4"/>
                </a:solidFill>
              </a:rPr>
              <a:t>Google Africa Applied AI Lab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685800" y="1298448"/>
            <a:ext cx="3154680" cy="4526280"/>
          </a:xfrm>
          <a:prstGeom prst="roundRect">
            <a:avLst>
              <a:gd name="adj" fmla="val 3478"/>
            </a:avLst>
          </a:prstGeom>
          <a:solidFill>
            <a:srgbClr val="102421"/>
          </a:solidFill>
          <a:ln w="12700">
            <a:solidFill>
              <a:srgbClr val="43E6CF">
                <a:alpha val="75000"/>
              </a:srgbClr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941832" y="1627632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3E6CF"/>
                </a:solidFill>
              </a:rPr>
              <a:t>Gemini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941832" y="2203704"/>
            <a:ext cx="128016" cy="128016"/>
          </a:xfrm>
          <a:prstGeom prst="ellipse">
            <a:avLst/>
          </a:prstGeom>
          <a:solidFill>
            <a:srgbClr val="43E6CF"/>
          </a:solidFill>
          <a:ln w="12700">
            <a:solidFill>
              <a:srgbClr val="43E6CF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70432" y="2148840"/>
            <a:ext cx="2423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20" dirty="0">
                <a:solidFill>
                  <a:srgbClr val="B8C7C4"/>
                </a:solidFill>
              </a:rPr>
              <a:t>Stronger multimodal maths understanding</a:t>
            </a:r>
            <a:endParaRPr lang="en-US" sz="1320" dirty="0"/>
          </a:p>
        </p:txBody>
      </p:sp>
      <p:sp>
        <p:nvSpPr>
          <p:cNvPr id="13" name="Shape 11"/>
          <p:cNvSpPr/>
          <p:nvPr/>
        </p:nvSpPr>
        <p:spPr>
          <a:xfrm>
            <a:off x="941832" y="2843784"/>
            <a:ext cx="128016" cy="128016"/>
          </a:xfrm>
          <a:prstGeom prst="ellipse">
            <a:avLst/>
          </a:prstGeom>
          <a:solidFill>
            <a:srgbClr val="43E6CF"/>
          </a:solidFill>
          <a:ln w="12700">
            <a:solidFill>
              <a:srgbClr val="43E6CF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70432" y="2788920"/>
            <a:ext cx="2423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20" dirty="0">
                <a:solidFill>
                  <a:srgbClr val="B8C7C4"/>
                </a:solidFill>
              </a:rPr>
              <a:t>Better handling of handwriting, images, diagrams and graphs</a:t>
            </a:r>
            <a:endParaRPr lang="en-US" sz="1320" dirty="0"/>
          </a:p>
        </p:txBody>
      </p:sp>
      <p:sp>
        <p:nvSpPr>
          <p:cNvPr id="15" name="Shape 13"/>
          <p:cNvSpPr/>
          <p:nvPr/>
        </p:nvSpPr>
        <p:spPr>
          <a:xfrm>
            <a:off x="941832" y="3483864"/>
            <a:ext cx="128016" cy="128016"/>
          </a:xfrm>
          <a:prstGeom prst="ellipse">
            <a:avLst/>
          </a:prstGeom>
          <a:solidFill>
            <a:srgbClr val="43E6CF"/>
          </a:solidFill>
          <a:ln w="12700">
            <a:solidFill>
              <a:srgbClr val="43E6CF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70432" y="3429000"/>
            <a:ext cx="2423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20" dirty="0">
                <a:solidFill>
                  <a:srgbClr val="B8C7C4"/>
                </a:solidFill>
              </a:rPr>
              <a:t>Richer explanations and tutoring interactions</a:t>
            </a:r>
            <a:endParaRPr lang="en-US" sz="1320" dirty="0"/>
          </a:p>
        </p:txBody>
      </p:sp>
      <p:sp>
        <p:nvSpPr>
          <p:cNvPr id="17" name="Shape 15"/>
          <p:cNvSpPr/>
          <p:nvPr/>
        </p:nvSpPr>
        <p:spPr>
          <a:xfrm>
            <a:off x="4160520" y="1298448"/>
            <a:ext cx="3154680" cy="4526280"/>
          </a:xfrm>
          <a:prstGeom prst="roundRect">
            <a:avLst>
              <a:gd name="adj" fmla="val 3478"/>
            </a:avLst>
          </a:prstGeom>
          <a:solidFill>
            <a:srgbClr val="102421"/>
          </a:solidFill>
          <a:ln w="12700">
            <a:solidFill>
              <a:srgbClr val="E9C35B">
                <a:alpha val="75000"/>
              </a:srgbClr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416552" y="1627632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9C35B"/>
                </a:solidFill>
              </a:rPr>
              <a:t>Gemma / efficient models</a:t>
            </a:r>
            <a:endParaRPr lang="en-US" sz="1900" dirty="0"/>
          </a:p>
        </p:txBody>
      </p:sp>
      <p:sp>
        <p:nvSpPr>
          <p:cNvPr id="19" name="Shape 17"/>
          <p:cNvSpPr/>
          <p:nvPr/>
        </p:nvSpPr>
        <p:spPr>
          <a:xfrm>
            <a:off x="4416552" y="2203704"/>
            <a:ext cx="128016" cy="128016"/>
          </a:xfrm>
          <a:prstGeom prst="ellipse">
            <a:avLst/>
          </a:prstGeom>
          <a:solidFill>
            <a:srgbClr val="E9C35B"/>
          </a:solidFill>
          <a:ln w="12700">
            <a:solidFill>
              <a:srgbClr val="E9C35B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645152" y="2148840"/>
            <a:ext cx="2423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20" dirty="0">
                <a:solidFill>
                  <a:srgbClr val="B8C7C4"/>
                </a:solidFill>
              </a:rPr>
              <a:t>Lower-cost routing for routine tasks</a:t>
            </a:r>
            <a:endParaRPr lang="en-US" sz="1320" dirty="0"/>
          </a:p>
        </p:txBody>
      </p:sp>
      <p:sp>
        <p:nvSpPr>
          <p:cNvPr id="21" name="Shape 19"/>
          <p:cNvSpPr/>
          <p:nvPr/>
        </p:nvSpPr>
        <p:spPr>
          <a:xfrm>
            <a:off x="4416552" y="2843784"/>
            <a:ext cx="128016" cy="128016"/>
          </a:xfrm>
          <a:prstGeom prst="ellipse">
            <a:avLst/>
          </a:prstGeom>
          <a:solidFill>
            <a:srgbClr val="E9C35B"/>
          </a:solidFill>
          <a:ln w="12700">
            <a:solidFill>
              <a:srgbClr val="E9C35B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645152" y="2788920"/>
            <a:ext cx="2423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20" dirty="0">
                <a:solidFill>
                  <a:srgbClr val="B8C7C4"/>
                </a:solidFill>
              </a:rPr>
              <a:t>Potential support for low-connectivity environments</a:t>
            </a:r>
            <a:endParaRPr lang="en-US" sz="1320" dirty="0"/>
          </a:p>
        </p:txBody>
      </p:sp>
      <p:sp>
        <p:nvSpPr>
          <p:cNvPr id="23" name="Shape 21"/>
          <p:cNvSpPr/>
          <p:nvPr/>
        </p:nvSpPr>
        <p:spPr>
          <a:xfrm>
            <a:off x="4416552" y="3483864"/>
            <a:ext cx="128016" cy="128016"/>
          </a:xfrm>
          <a:prstGeom prst="ellipse">
            <a:avLst/>
          </a:prstGeom>
          <a:solidFill>
            <a:srgbClr val="E9C35B"/>
          </a:solidFill>
          <a:ln w="12700">
            <a:solidFill>
              <a:srgbClr val="E9C35B">
                <a:alpha val="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645152" y="3429000"/>
            <a:ext cx="2423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20" dirty="0">
                <a:solidFill>
                  <a:srgbClr val="B8C7C4"/>
                </a:solidFill>
              </a:rPr>
              <a:t>Reusable feedback and question-classification workflows</a:t>
            </a:r>
            <a:endParaRPr lang="en-US" sz="1320" dirty="0"/>
          </a:p>
        </p:txBody>
      </p:sp>
      <p:sp>
        <p:nvSpPr>
          <p:cNvPr id="25" name="Shape 23"/>
          <p:cNvSpPr/>
          <p:nvPr/>
        </p:nvSpPr>
        <p:spPr>
          <a:xfrm>
            <a:off x="7635240" y="1298448"/>
            <a:ext cx="3154680" cy="4526280"/>
          </a:xfrm>
          <a:prstGeom prst="roundRect">
            <a:avLst>
              <a:gd name="adj" fmla="val 3478"/>
            </a:avLst>
          </a:prstGeom>
          <a:solidFill>
            <a:srgbClr val="102421"/>
          </a:solidFill>
          <a:ln w="12700">
            <a:solidFill>
              <a:srgbClr val="F29D52">
                <a:alpha val="75000"/>
              </a:srgbClr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8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7891272" y="1627632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29D52"/>
                </a:solidFill>
              </a:rPr>
              <a:t>Google tooling</a:t>
            </a:r>
            <a:endParaRPr lang="en-US" sz="1900" dirty="0"/>
          </a:p>
        </p:txBody>
      </p:sp>
      <p:sp>
        <p:nvSpPr>
          <p:cNvPr id="27" name="Shape 25"/>
          <p:cNvSpPr/>
          <p:nvPr/>
        </p:nvSpPr>
        <p:spPr>
          <a:xfrm>
            <a:off x="7891272" y="2203704"/>
            <a:ext cx="128016" cy="128016"/>
          </a:xfrm>
          <a:prstGeom prst="ellipse">
            <a:avLst/>
          </a:prstGeom>
          <a:solidFill>
            <a:srgbClr val="F29D52"/>
          </a:solidFill>
          <a:ln w="12700">
            <a:solidFill>
              <a:srgbClr val="F29D52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119872" y="2148840"/>
            <a:ext cx="2423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20" dirty="0">
                <a:solidFill>
                  <a:srgbClr val="B8C7C4"/>
                </a:solidFill>
              </a:rPr>
              <a:t>Lesson-video creation and content iteration</a:t>
            </a:r>
            <a:endParaRPr lang="en-US" sz="1320" dirty="0"/>
          </a:p>
        </p:txBody>
      </p:sp>
      <p:sp>
        <p:nvSpPr>
          <p:cNvPr id="29" name="Shape 27"/>
          <p:cNvSpPr/>
          <p:nvPr/>
        </p:nvSpPr>
        <p:spPr>
          <a:xfrm>
            <a:off x="7891272" y="2843784"/>
            <a:ext cx="128016" cy="128016"/>
          </a:xfrm>
          <a:prstGeom prst="ellipse">
            <a:avLst/>
          </a:prstGeom>
          <a:solidFill>
            <a:srgbClr val="F29D52"/>
          </a:solidFill>
          <a:ln w="12700">
            <a:solidFill>
              <a:srgbClr val="F29D52">
                <a:alpha val="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119872" y="2788920"/>
            <a:ext cx="2423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20" dirty="0">
                <a:solidFill>
                  <a:srgbClr val="B8C7C4"/>
                </a:solidFill>
              </a:rPr>
              <a:t>Question refinement and evaluation workflows</a:t>
            </a:r>
            <a:endParaRPr lang="en-US" sz="1320" dirty="0"/>
          </a:p>
        </p:txBody>
      </p:sp>
      <p:sp>
        <p:nvSpPr>
          <p:cNvPr id="31" name="Shape 29"/>
          <p:cNvSpPr/>
          <p:nvPr/>
        </p:nvSpPr>
        <p:spPr>
          <a:xfrm>
            <a:off x="7891272" y="3483864"/>
            <a:ext cx="128016" cy="128016"/>
          </a:xfrm>
          <a:prstGeom prst="ellipse">
            <a:avLst/>
          </a:prstGeom>
          <a:solidFill>
            <a:srgbClr val="F29D52"/>
          </a:solidFill>
          <a:ln w="12700">
            <a:solidFill>
              <a:srgbClr val="F29D52">
                <a:alpha val="0"/>
              </a:srgbClr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119872" y="3429000"/>
            <a:ext cx="2423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20" dirty="0">
                <a:solidFill>
                  <a:srgbClr val="B8C7C4"/>
                </a:solidFill>
              </a:rPr>
              <a:t>Support for Apple/Mac expansion and cloud-scale delivery</a:t>
            </a:r>
            <a:endParaRPr lang="en-US" sz="1320" dirty="0"/>
          </a:p>
        </p:txBody>
      </p:sp>
      <p:sp>
        <p:nvSpPr>
          <p:cNvPr id="33" name="Text 31"/>
          <p:cNvSpPr/>
          <p:nvPr/>
        </p:nvSpPr>
        <p:spPr>
          <a:xfrm>
            <a:off x="822960" y="5961888"/>
            <a:ext cx="10515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10" b="1" dirty="0">
                <a:solidFill>
                  <a:srgbClr val="F5FBFA"/>
                </a:solidFill>
              </a:rPr>
              <a:t>Goal: improve multimodal accuracy, question quality, lesson-content scale, latency and cost while keeping the learner experience simple.</a:t>
            </a:r>
            <a:endParaRPr lang="en-US" sz="141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71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514"/>
          </a:solidFill>
          <a:ln w="12700">
            <a:solidFill>
              <a:srgbClr val="071514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4100F"/>
          </a:solidFill>
          <a:ln w="12700">
            <a:solidFill>
              <a:srgbClr val="04100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18A7B">
              <a:alpha val="75000"/>
            </a:srgbClr>
          </a:solidFill>
          <a:ln w="12700">
            <a:solidFill>
              <a:srgbClr val="118A7B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530352" y="320040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5FBF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Business model &amp; pricing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548640" y="749808"/>
            <a:ext cx="6675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8C7C4"/>
                </a:solidFill>
              </a:rPr>
              <a:t>A simple subscription model with controlled AI costs.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9646920" y="301752"/>
            <a:ext cx="1965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43E6CF"/>
                </a:solidFill>
              </a:rPr>
              <a:t>SharperTime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646920" y="713232"/>
            <a:ext cx="1965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8C7C4"/>
                </a:solidFill>
              </a:rPr>
              <a:t>Google Africa Applied AI Lab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658368" y="1170432"/>
            <a:ext cx="3794760" cy="5074920"/>
          </a:xfrm>
          <a:prstGeom prst="roundRect">
            <a:avLst>
              <a:gd name="adj" fmla="val 2892"/>
            </a:avLst>
          </a:prstGeom>
          <a:solidFill>
            <a:srgbClr val="142D29"/>
          </a:solidFill>
          <a:ln w="12700">
            <a:solidFill>
              <a:srgbClr val="43E6CF">
                <a:alpha val="65000"/>
              </a:srgbClr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914400" y="1481328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C35B"/>
                </a:solidFill>
              </a:rPr>
              <a:t>Target subscription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914400" y="1810512"/>
            <a:ext cx="3429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algn="l">
              <a:buNone/>
            </a:pPr>
            <a:r>
              <a:rPr sz="2800" b="1">
                <a:solidFill>
                  <a:srgbClr val="F5FBFA"/>
                </a:solidFill>
                <a:latin typeface="Aptos"/>
              </a:rPr>
              <a:t>R35 - R50 / 30 days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914400" y="2560320"/>
            <a:ext cx="31546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dirty="0">
                <a:solidFill>
                  <a:srgbClr val="B8C7C4"/>
                </a:solidFill>
              </a:rPr>
              <a:t>The launch pricing keeps the offer affordable while preserving a target SharperX operating share and fair-use AI allocation.</a:t>
            </a:r>
            <a:endParaRPr lang="en-US" sz="1360" dirty="0"/>
          </a:p>
        </p:txBody>
      </p:sp>
      <p:sp>
        <p:nvSpPr>
          <p:cNvPr id="13" name="Shape 11"/>
          <p:cNvSpPr/>
          <p:nvPr/>
        </p:nvSpPr>
        <p:spPr>
          <a:xfrm>
            <a:off x="932688" y="3712464"/>
            <a:ext cx="128016" cy="128016"/>
          </a:xfrm>
          <a:prstGeom prst="ellipse">
            <a:avLst/>
          </a:prstGeom>
          <a:solidFill>
            <a:srgbClr val="43E6CF"/>
          </a:solidFill>
          <a:ln w="12700">
            <a:solidFill>
              <a:srgbClr val="43E6C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1161288" y="3657600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80" dirty="0">
                <a:solidFill>
                  <a:srgbClr val="B8C7C4"/>
                </a:solidFill>
              </a:rPr>
              <a:t>Direct-to-learner and parent subscription at launch.</a:t>
            </a:r>
            <a:endParaRPr lang="en-US" sz="1280" dirty="0"/>
          </a:p>
        </p:txBody>
      </p:sp>
      <p:sp>
        <p:nvSpPr>
          <p:cNvPr id="15" name="Shape 13"/>
          <p:cNvSpPr/>
          <p:nvPr/>
        </p:nvSpPr>
        <p:spPr>
          <a:xfrm>
            <a:off x="932688" y="4352544"/>
            <a:ext cx="128016" cy="128016"/>
          </a:xfrm>
          <a:prstGeom prst="ellipse">
            <a:avLst/>
          </a:prstGeom>
          <a:solidFill>
            <a:srgbClr val="43E6CF"/>
          </a:solidFill>
          <a:ln w="12700">
            <a:solidFill>
              <a:srgbClr val="43E6C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1161288" y="4297680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80" dirty="0">
                <a:solidFill>
                  <a:srgbClr val="B8C7C4"/>
                </a:solidFill>
              </a:rPr>
              <a:t>School partnerships become a distribution channel after the product is proven.</a:t>
            </a:r>
            <a:endParaRPr lang="en-US" sz="1280" dirty="0"/>
          </a:p>
        </p:txBody>
      </p:sp>
      <p:sp>
        <p:nvSpPr>
          <p:cNvPr id="17" name="Shape 15"/>
          <p:cNvSpPr/>
          <p:nvPr/>
        </p:nvSpPr>
        <p:spPr>
          <a:xfrm>
            <a:off x="932688" y="4992624"/>
            <a:ext cx="128016" cy="128016"/>
          </a:xfrm>
          <a:prstGeom prst="ellipse">
            <a:avLst/>
          </a:prstGeom>
          <a:solidFill>
            <a:srgbClr val="43E6CF"/>
          </a:solidFill>
          <a:ln w="12700">
            <a:solidFill>
              <a:srgbClr val="43E6C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1161288" y="4937760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80" dirty="0">
                <a:solidFill>
                  <a:srgbClr val="B8C7C4"/>
                </a:solidFill>
              </a:rPr>
              <a:t>AI usage is managed through credits, fair-use limits, model routing and monitoring.</a:t>
            </a:r>
            <a:endParaRPr lang="en-US" sz="1280" dirty="0"/>
          </a:p>
        </p:txBody>
      </p:sp>
      <p:sp>
        <p:nvSpPr>
          <p:cNvPr id="19" name="Rounded Rectangle 18"/>
          <p:cNvSpPr/>
          <p:nvPr/>
        </p:nvSpPr>
        <p:spPr>
          <a:xfrm>
            <a:off x="4736592" y="1170432"/>
            <a:ext cx="5833872" cy="5065776"/>
          </a:xfrm>
          <a:prstGeom prst="roundRect">
            <a:avLst/>
          </a:prstGeom>
          <a:solidFill>
            <a:srgbClr val="102421"/>
          </a:solidFill>
          <a:ln w="12700">
            <a:solidFill>
              <a:srgbClr val="2140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74920" y="1481328"/>
            <a:ext cx="5212080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43E6CF"/>
                </a:solidFill>
                <a:latin typeface="Aptos"/>
              </a:rPr>
              <a:t>Checkout offer at launch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84064" y="1856231"/>
            <a:ext cx="5074920" cy="3474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60">
                <a:solidFill>
                  <a:srgbClr val="B8C7C4"/>
                </a:solidFill>
                <a:latin typeface="Aptos"/>
              </a:rPr>
              <a:t>Two clear checkout options combine tutor access, lesson-video access and a defined AI usage allowance.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74920" y="2487168"/>
            <a:ext cx="2514600" cy="2542032"/>
          </a:xfrm>
          <a:prstGeom prst="roundRect">
            <a:avLst/>
          </a:prstGeom>
          <a:solidFill>
            <a:srgbClr val="0B1D1B"/>
          </a:solidFill>
          <a:ln w="12700">
            <a:solidFill>
              <a:srgbClr val="43E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21808" y="2770632"/>
            <a:ext cx="2011680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E9C35B"/>
                </a:solidFill>
                <a:latin typeface="Aptos"/>
              </a:rPr>
              <a:t>R35 plan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21808" y="3255264"/>
            <a:ext cx="2029968" cy="12344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340" b="0">
                <a:solidFill>
                  <a:srgbClr val="F5FBFA"/>
                </a:solidFill>
                <a:latin typeface="Aptos"/>
              </a:rPr>
              <a:t>30 days of combined Grade 12 Mathematics tutor access and lesson-video access, together with a standard AI usage allowance with a service value of R5.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818120" y="2487168"/>
            <a:ext cx="2514600" cy="2542032"/>
          </a:xfrm>
          <a:prstGeom prst="roundRect">
            <a:avLst/>
          </a:prstGeom>
          <a:solidFill>
            <a:srgbClr val="0B1D1B"/>
          </a:solidFill>
          <a:ln w="12700">
            <a:solidFill>
              <a:srgbClr val="E9C3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65008" y="2770632"/>
            <a:ext cx="2011680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E9C35B"/>
                </a:solidFill>
                <a:latin typeface="Aptos"/>
              </a:rPr>
              <a:t>R50 plan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65008" y="3255264"/>
            <a:ext cx="2029968" cy="12344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340" b="0">
                <a:solidFill>
                  <a:srgbClr val="F5FBFA"/>
                </a:solidFill>
                <a:latin typeface="Aptos"/>
              </a:rPr>
              <a:t>30 days of the same combined access, together with an enhanced AI usage allowance with a service value of R14.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74920" y="5321808"/>
            <a:ext cx="5257800" cy="566928"/>
          </a:xfrm>
          <a:prstGeom prst="roundRect">
            <a:avLst/>
          </a:prstGeom>
          <a:solidFill>
            <a:srgbClr val="0A1817"/>
          </a:solidFill>
          <a:ln w="12700">
            <a:solidFill>
              <a:srgbClr val="118A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03520" y="5522976"/>
            <a:ext cx="480060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160" b="0">
                <a:solidFill>
                  <a:srgbClr val="B8C7C4"/>
                </a:solidFill>
                <a:latin typeface="Aptos"/>
              </a:rPr>
              <a:t>Both plans include tutor access and lesson videos; the difference is the included AI usage allowance.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71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514"/>
          </a:solidFill>
          <a:ln w="12700">
            <a:solidFill>
              <a:srgbClr val="071514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4100F"/>
          </a:solidFill>
          <a:ln w="12700">
            <a:solidFill>
              <a:srgbClr val="04100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18A7B">
              <a:alpha val="75000"/>
            </a:srgbClr>
          </a:solidFill>
          <a:ln w="12700">
            <a:solidFill>
              <a:srgbClr val="118A7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320040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5FBF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Go-to-market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548640" y="749808"/>
            <a:ext cx="6675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8C7C4"/>
                </a:solidFill>
              </a:rPr>
              <a:t>Start locally, prove renewals, then expand outward.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9646920" y="301752"/>
            <a:ext cx="1965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43E6CF"/>
                </a:solidFill>
              </a:rPr>
              <a:t>SharperTime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646920" y="713232"/>
            <a:ext cx="1965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8C7C4"/>
                </a:solidFill>
              </a:rPr>
              <a:t>Google Africa Applied AI Lab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685800" y="1298448"/>
            <a:ext cx="3063240" cy="4526280"/>
          </a:xfrm>
          <a:prstGeom prst="roundRect">
            <a:avLst>
              <a:gd name="adj" fmla="val 3582"/>
            </a:avLst>
          </a:prstGeom>
          <a:solidFill>
            <a:srgbClr val="102421"/>
          </a:solidFill>
          <a:ln w="12700">
            <a:solidFill>
              <a:srgbClr val="43E6CF">
                <a:alpha val="75000"/>
              </a:srgbClr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923544" y="1609344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3E6CF"/>
                </a:solidFill>
              </a:rPr>
              <a:t>Beachhead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941832" y="2194560"/>
            <a:ext cx="128016" cy="128016"/>
          </a:xfrm>
          <a:prstGeom prst="ellipse">
            <a:avLst/>
          </a:prstGeom>
          <a:solidFill>
            <a:srgbClr val="43E6CF"/>
          </a:solidFill>
          <a:ln w="12700">
            <a:solidFill>
              <a:srgbClr val="43E6CF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70432" y="2139696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20" dirty="0">
                <a:solidFill>
                  <a:srgbClr val="B8C7C4"/>
                </a:solidFill>
              </a:rPr>
              <a:t>Marikana and surrounding communities in North West</a:t>
            </a:r>
            <a:endParaRPr lang="en-US" sz="1320" dirty="0"/>
          </a:p>
        </p:txBody>
      </p:sp>
      <p:sp>
        <p:nvSpPr>
          <p:cNvPr id="13" name="Shape 11"/>
          <p:cNvSpPr/>
          <p:nvPr/>
        </p:nvSpPr>
        <p:spPr>
          <a:xfrm>
            <a:off x="941832" y="2907792"/>
            <a:ext cx="128016" cy="128016"/>
          </a:xfrm>
          <a:prstGeom prst="ellipse">
            <a:avLst/>
          </a:prstGeom>
          <a:solidFill>
            <a:srgbClr val="43E6CF"/>
          </a:solidFill>
          <a:ln w="12700">
            <a:solidFill>
              <a:srgbClr val="43E6CF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70432" y="2852928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20" dirty="0">
                <a:solidFill>
                  <a:srgbClr val="B8C7C4"/>
                </a:solidFill>
              </a:rPr>
              <a:t>Gauteng school and community outreach</a:t>
            </a:r>
            <a:endParaRPr lang="en-US" sz="1320" dirty="0"/>
          </a:p>
        </p:txBody>
      </p:sp>
      <p:sp>
        <p:nvSpPr>
          <p:cNvPr id="15" name="Shape 13"/>
          <p:cNvSpPr/>
          <p:nvPr/>
        </p:nvSpPr>
        <p:spPr>
          <a:xfrm>
            <a:off x="941832" y="3621024"/>
            <a:ext cx="128016" cy="128016"/>
          </a:xfrm>
          <a:prstGeom prst="ellipse">
            <a:avLst/>
          </a:prstGeom>
          <a:solidFill>
            <a:srgbClr val="43E6CF"/>
          </a:solidFill>
          <a:ln w="12700">
            <a:solidFill>
              <a:srgbClr val="43E6CF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70432" y="3566160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20" dirty="0">
                <a:solidFill>
                  <a:srgbClr val="B8C7C4"/>
                </a:solidFill>
              </a:rPr>
              <a:t>Direct school visits, demos and local trust-building</a:t>
            </a:r>
            <a:endParaRPr lang="en-US" sz="1320" dirty="0"/>
          </a:p>
        </p:txBody>
      </p:sp>
      <p:sp>
        <p:nvSpPr>
          <p:cNvPr id="17" name="Shape 15"/>
          <p:cNvSpPr/>
          <p:nvPr/>
        </p:nvSpPr>
        <p:spPr>
          <a:xfrm>
            <a:off x="4187952" y="1298448"/>
            <a:ext cx="3063240" cy="4526280"/>
          </a:xfrm>
          <a:prstGeom prst="roundRect">
            <a:avLst>
              <a:gd name="adj" fmla="val 3582"/>
            </a:avLst>
          </a:prstGeom>
          <a:solidFill>
            <a:srgbClr val="102421"/>
          </a:solidFill>
          <a:ln w="12700">
            <a:solidFill>
              <a:srgbClr val="E9C35B">
                <a:alpha val="75000"/>
              </a:srgbClr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425696" y="1609344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9C35B"/>
                </a:solidFill>
              </a:rPr>
              <a:t>Digital channels</a:t>
            </a:r>
            <a:endParaRPr lang="en-US" sz="1900" dirty="0"/>
          </a:p>
        </p:txBody>
      </p:sp>
      <p:sp>
        <p:nvSpPr>
          <p:cNvPr id="19" name="Shape 17"/>
          <p:cNvSpPr/>
          <p:nvPr/>
        </p:nvSpPr>
        <p:spPr>
          <a:xfrm>
            <a:off x="4443984" y="2194560"/>
            <a:ext cx="128016" cy="128016"/>
          </a:xfrm>
          <a:prstGeom prst="ellipse">
            <a:avLst/>
          </a:prstGeom>
          <a:solidFill>
            <a:srgbClr val="E9C35B"/>
          </a:solidFill>
          <a:ln w="12700">
            <a:solidFill>
              <a:srgbClr val="E9C35B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672584" y="2139696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20" dirty="0">
                <a:solidFill>
                  <a:srgbClr val="B8C7C4"/>
                </a:solidFill>
              </a:rPr>
              <a:t>YouTube ads and lesson videos</a:t>
            </a:r>
            <a:endParaRPr lang="en-US" sz="1320" dirty="0"/>
          </a:p>
        </p:txBody>
      </p:sp>
      <p:sp>
        <p:nvSpPr>
          <p:cNvPr id="21" name="Shape 19"/>
          <p:cNvSpPr/>
          <p:nvPr/>
        </p:nvSpPr>
        <p:spPr>
          <a:xfrm>
            <a:off x="4443984" y="2907792"/>
            <a:ext cx="128016" cy="128016"/>
          </a:xfrm>
          <a:prstGeom prst="ellipse">
            <a:avLst/>
          </a:prstGeom>
          <a:solidFill>
            <a:srgbClr val="E9C35B"/>
          </a:solidFill>
          <a:ln w="12700">
            <a:solidFill>
              <a:srgbClr val="E9C35B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672584" y="2852928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20" dirty="0">
                <a:solidFill>
                  <a:srgbClr val="B8C7C4"/>
                </a:solidFill>
              </a:rPr>
              <a:t>X / Twitter and Facebook</a:t>
            </a:r>
            <a:endParaRPr lang="en-US" sz="1320" dirty="0"/>
          </a:p>
        </p:txBody>
      </p:sp>
      <p:sp>
        <p:nvSpPr>
          <p:cNvPr id="23" name="Shape 21"/>
          <p:cNvSpPr/>
          <p:nvPr/>
        </p:nvSpPr>
        <p:spPr>
          <a:xfrm>
            <a:off x="4443984" y="3621024"/>
            <a:ext cx="128016" cy="128016"/>
          </a:xfrm>
          <a:prstGeom prst="ellipse">
            <a:avLst/>
          </a:prstGeom>
          <a:solidFill>
            <a:srgbClr val="E9C35B"/>
          </a:solidFill>
          <a:ln w="12700">
            <a:solidFill>
              <a:srgbClr val="E9C35B">
                <a:alpha val="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672584" y="3566160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20" dirty="0">
                <a:solidFill>
                  <a:srgbClr val="B8C7C4"/>
                </a:solidFill>
              </a:rPr>
              <a:t>Website launch page, product demo and community sharing</a:t>
            </a:r>
            <a:endParaRPr lang="en-US" sz="1320" dirty="0"/>
          </a:p>
        </p:txBody>
      </p:sp>
      <p:sp>
        <p:nvSpPr>
          <p:cNvPr id="25" name="Shape 23"/>
          <p:cNvSpPr/>
          <p:nvPr/>
        </p:nvSpPr>
        <p:spPr>
          <a:xfrm>
            <a:off x="7690104" y="1298448"/>
            <a:ext cx="3063240" cy="4526280"/>
          </a:xfrm>
          <a:prstGeom prst="roundRect">
            <a:avLst>
              <a:gd name="adj" fmla="val 3582"/>
            </a:avLst>
          </a:prstGeom>
          <a:solidFill>
            <a:srgbClr val="102421"/>
          </a:solidFill>
          <a:ln w="12700">
            <a:solidFill>
              <a:srgbClr val="F29D52">
                <a:alpha val="75000"/>
              </a:srgbClr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8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7927848" y="1609344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29D52"/>
                </a:solidFill>
              </a:rPr>
              <a:t>Launch path</a:t>
            </a:r>
            <a:endParaRPr lang="en-US" sz="1900" dirty="0"/>
          </a:p>
        </p:txBody>
      </p:sp>
      <p:sp>
        <p:nvSpPr>
          <p:cNvPr id="27" name="Shape 25"/>
          <p:cNvSpPr/>
          <p:nvPr/>
        </p:nvSpPr>
        <p:spPr>
          <a:xfrm>
            <a:off x="7946136" y="2194560"/>
            <a:ext cx="128016" cy="128016"/>
          </a:xfrm>
          <a:prstGeom prst="ellipse">
            <a:avLst/>
          </a:prstGeom>
          <a:solidFill>
            <a:srgbClr val="F29D52"/>
          </a:solidFill>
          <a:ln w="12700">
            <a:solidFill>
              <a:srgbClr val="F29D52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174736" y="2139696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20" dirty="0">
                <a:solidFill>
                  <a:srgbClr val="B8C7C4"/>
                </a:solidFill>
              </a:rPr>
              <a:t>September launch on website and Google Play Store</a:t>
            </a:r>
            <a:endParaRPr lang="en-US" sz="1320" dirty="0"/>
          </a:p>
        </p:txBody>
      </p:sp>
      <p:sp>
        <p:nvSpPr>
          <p:cNvPr id="29" name="Shape 27"/>
          <p:cNvSpPr/>
          <p:nvPr/>
        </p:nvSpPr>
        <p:spPr>
          <a:xfrm>
            <a:off x="7946136" y="2907792"/>
            <a:ext cx="128016" cy="128016"/>
          </a:xfrm>
          <a:prstGeom prst="ellipse">
            <a:avLst/>
          </a:prstGeom>
          <a:solidFill>
            <a:srgbClr val="F29D52"/>
          </a:solidFill>
          <a:ln w="12700">
            <a:solidFill>
              <a:srgbClr val="F29D52">
                <a:alpha val="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174736" y="2852928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20" dirty="0">
                <a:solidFill>
                  <a:srgbClr val="B8C7C4"/>
                </a:solidFill>
              </a:rPr>
              <a:t>Focused on Grade 12 Mathematics first</a:t>
            </a:r>
            <a:endParaRPr lang="en-US" sz="1320" dirty="0"/>
          </a:p>
        </p:txBody>
      </p:sp>
      <p:sp>
        <p:nvSpPr>
          <p:cNvPr id="31" name="Shape 29"/>
          <p:cNvSpPr/>
          <p:nvPr/>
        </p:nvSpPr>
        <p:spPr>
          <a:xfrm>
            <a:off x="7946136" y="3621024"/>
            <a:ext cx="128016" cy="128016"/>
          </a:xfrm>
          <a:prstGeom prst="ellipse">
            <a:avLst/>
          </a:prstGeom>
          <a:solidFill>
            <a:srgbClr val="F29D52"/>
          </a:solidFill>
          <a:ln w="12700">
            <a:solidFill>
              <a:srgbClr val="F29D52">
                <a:alpha val="0"/>
              </a:srgbClr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174736" y="3566160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20" dirty="0">
                <a:solidFill>
                  <a:srgbClr val="B8C7C4"/>
                </a:solidFill>
              </a:rPr>
              <a:t>Expand across Africa after the core model is proven</a:t>
            </a:r>
            <a:endParaRPr lang="en-US" sz="132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71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514"/>
          </a:solidFill>
          <a:ln w="12700">
            <a:solidFill>
              <a:srgbClr val="071514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4100F"/>
          </a:solidFill>
          <a:ln w="12700">
            <a:solidFill>
              <a:srgbClr val="04100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18A7B">
              <a:alpha val="75000"/>
            </a:srgbClr>
          </a:solidFill>
          <a:ln w="12700">
            <a:solidFill>
              <a:srgbClr val="118A7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320040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5FBF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Product roadmap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548640" y="749808"/>
            <a:ext cx="6675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8C7C4"/>
                </a:solidFill>
              </a:rPr>
              <a:t>Focused Grade 12 Mathematics launch first, then disciplined expansion.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9646920" y="301752"/>
            <a:ext cx="1965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43E6CF"/>
                </a:solidFill>
              </a:rPr>
              <a:t>SharperTime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646920" y="713232"/>
            <a:ext cx="1965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8C7C4"/>
                </a:solidFill>
              </a:rPr>
              <a:t>Google Africa Applied AI Lab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411480" y="1600200"/>
            <a:ext cx="1737360" cy="3566160"/>
          </a:xfrm>
          <a:prstGeom prst="roundRect">
            <a:avLst>
              <a:gd name="adj" fmla="val 6316"/>
            </a:avLst>
          </a:prstGeom>
          <a:solidFill>
            <a:srgbClr val="142D29"/>
          </a:solidFill>
          <a:ln w="12700">
            <a:solidFill>
              <a:srgbClr val="43E6CF">
                <a:alpha val="75000"/>
              </a:srgbClr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02920" y="1847088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43E6CF"/>
                </a:solidFill>
              </a:rPr>
              <a:t>Now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521208" y="2578608"/>
            <a:ext cx="1517904" cy="10515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210" b="1" dirty="0">
                <a:solidFill>
                  <a:srgbClr val="F5FBFA"/>
                </a:solidFill>
              </a:rPr>
              <a:t>Windows and Android app</a:t>
            </a:r>
            <a:endParaRPr lang="en-US" sz="1210" dirty="0"/>
          </a:p>
          <a:p>
            <a:pPr algn="ctr" indent="0" marL="0">
              <a:buNone/>
            </a:pPr>
            <a:r>
              <a:rPr lang="en-US" sz="1210" b="1" dirty="0">
                <a:solidFill>
                  <a:srgbClr val="F5FBFA"/>
                </a:solidFill>
              </a:rPr>
              <a:t>Grade 12 Mathematics</a:t>
            </a:r>
            <a:endParaRPr lang="en-US" sz="1210" dirty="0"/>
          </a:p>
        </p:txBody>
      </p:sp>
      <p:sp>
        <p:nvSpPr>
          <p:cNvPr id="12" name="Shape 10"/>
          <p:cNvSpPr/>
          <p:nvPr/>
        </p:nvSpPr>
        <p:spPr>
          <a:xfrm>
            <a:off x="2368296" y="1600200"/>
            <a:ext cx="1737360" cy="3566160"/>
          </a:xfrm>
          <a:prstGeom prst="roundRect">
            <a:avLst>
              <a:gd name="adj" fmla="val 6316"/>
            </a:avLst>
          </a:prstGeom>
          <a:solidFill>
            <a:srgbClr val="102421"/>
          </a:solidFill>
          <a:ln w="12700">
            <a:solidFill>
              <a:srgbClr val="E9C35B">
                <a:alpha val="75000"/>
              </a:srgbClr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459736" y="1847088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E9C35B"/>
                </a:solidFill>
              </a:rPr>
              <a:t>Sep 2026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2478024" y="2578608"/>
            <a:ext cx="1517904" cy="10515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210" b="1" dirty="0">
                <a:solidFill>
                  <a:srgbClr val="F5FBFA"/>
                </a:solidFill>
              </a:rPr>
              <a:t>Launch on website</a:t>
            </a:r>
            <a:endParaRPr lang="en-US" sz="1210" dirty="0"/>
          </a:p>
          <a:p>
            <a:pPr algn="ctr" indent="0" marL="0">
              <a:buNone/>
            </a:pPr>
            <a:r>
              <a:rPr lang="en-US" sz="1210" b="1" dirty="0">
                <a:solidFill>
                  <a:srgbClr val="F5FBFA"/>
                </a:solidFill>
              </a:rPr>
              <a:t>and Google Play Store</a:t>
            </a:r>
            <a:endParaRPr lang="en-US" sz="1210" dirty="0"/>
          </a:p>
        </p:txBody>
      </p:sp>
      <p:sp>
        <p:nvSpPr>
          <p:cNvPr id="15" name="Shape 13"/>
          <p:cNvSpPr/>
          <p:nvPr/>
        </p:nvSpPr>
        <p:spPr>
          <a:xfrm>
            <a:off x="4325112" y="1600200"/>
            <a:ext cx="1737360" cy="3566160"/>
          </a:xfrm>
          <a:prstGeom prst="roundRect">
            <a:avLst>
              <a:gd name="adj" fmla="val 6316"/>
            </a:avLst>
          </a:prstGeom>
          <a:solidFill>
            <a:srgbClr val="102421"/>
          </a:solidFill>
          <a:ln w="12700">
            <a:solidFill>
              <a:srgbClr val="F29D52">
                <a:alpha val="75000"/>
              </a:srgbClr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4416552" y="1847088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F29D52"/>
                </a:solidFill>
              </a:rPr>
              <a:t>2027</a:t>
            </a:r>
            <a:endParaRPr lang="en-US" sz="1550" dirty="0"/>
          </a:p>
        </p:txBody>
      </p:sp>
      <p:sp>
        <p:nvSpPr>
          <p:cNvPr id="17" name="Text 15"/>
          <p:cNvSpPr/>
          <p:nvPr/>
        </p:nvSpPr>
        <p:spPr>
          <a:xfrm>
            <a:off x="4434840" y="2578608"/>
            <a:ext cx="1517904" cy="10515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210" b="1" dirty="0">
                <a:solidFill>
                  <a:srgbClr val="F5FBFA"/>
                </a:solidFill>
              </a:rPr>
              <a:t>Add other grades</a:t>
            </a:r>
            <a:endParaRPr lang="en-US" sz="1210" dirty="0"/>
          </a:p>
          <a:p>
            <a:pPr algn="ctr" indent="0" marL="0">
              <a:buNone/>
            </a:pPr>
            <a:r>
              <a:rPr lang="en-US" sz="1210" b="1" dirty="0">
                <a:solidFill>
                  <a:srgbClr val="F5FBFA"/>
                </a:solidFill>
              </a:rPr>
              <a:t>and high-school subjects</a:t>
            </a:r>
            <a:endParaRPr lang="en-US" sz="1210" dirty="0"/>
          </a:p>
        </p:txBody>
      </p:sp>
      <p:sp>
        <p:nvSpPr>
          <p:cNvPr id="18" name="Shape 16"/>
          <p:cNvSpPr/>
          <p:nvPr/>
        </p:nvSpPr>
        <p:spPr>
          <a:xfrm>
            <a:off x="6281928" y="1600200"/>
            <a:ext cx="1737360" cy="3566160"/>
          </a:xfrm>
          <a:prstGeom prst="roundRect">
            <a:avLst>
              <a:gd name="adj" fmla="val 6316"/>
            </a:avLst>
          </a:prstGeom>
          <a:solidFill>
            <a:srgbClr val="102421"/>
          </a:solidFill>
          <a:ln w="12700">
            <a:solidFill>
              <a:srgbClr val="365BD8">
                <a:alpha val="75000"/>
              </a:srgbClr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8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6373368" y="1847088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365BD8"/>
                </a:solidFill>
              </a:rPr>
              <a:t>Next</a:t>
            </a:r>
            <a:endParaRPr lang="en-US" sz="1550" dirty="0"/>
          </a:p>
        </p:txBody>
      </p:sp>
      <p:sp>
        <p:nvSpPr>
          <p:cNvPr id="20" name="Text 18"/>
          <p:cNvSpPr/>
          <p:nvPr/>
        </p:nvSpPr>
        <p:spPr>
          <a:xfrm>
            <a:off x="6391656" y="2578608"/>
            <a:ext cx="1517904" cy="10515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210" b="1" dirty="0">
                <a:solidFill>
                  <a:srgbClr val="F5FBFA"/>
                </a:solidFill>
              </a:rPr>
              <a:t>Expand to Apple, Mac</a:t>
            </a:r>
            <a:endParaRPr lang="en-US" sz="1210" dirty="0"/>
          </a:p>
          <a:p>
            <a:pPr algn="ctr" indent="0" marL="0">
              <a:buNone/>
            </a:pPr>
            <a:r>
              <a:rPr lang="en-US" sz="1210" b="1" dirty="0">
                <a:solidFill>
                  <a:srgbClr val="F5FBFA"/>
                </a:solidFill>
              </a:rPr>
              <a:t>and more devices</a:t>
            </a:r>
            <a:endParaRPr lang="en-US" sz="1210" dirty="0"/>
          </a:p>
        </p:txBody>
      </p:sp>
      <p:sp>
        <p:nvSpPr>
          <p:cNvPr id="21" name="Shape 19"/>
          <p:cNvSpPr/>
          <p:nvPr/>
        </p:nvSpPr>
        <p:spPr>
          <a:xfrm>
            <a:off x="8238744" y="1600200"/>
            <a:ext cx="1737360" cy="3566160"/>
          </a:xfrm>
          <a:prstGeom prst="roundRect">
            <a:avLst>
              <a:gd name="adj" fmla="val 6316"/>
            </a:avLst>
          </a:prstGeom>
          <a:solidFill>
            <a:srgbClr val="102421"/>
          </a:solidFill>
          <a:ln w="12700">
            <a:solidFill>
              <a:srgbClr val="C84C84">
                <a:alpha val="75000"/>
              </a:srgbClr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8330184" y="1847088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C84C84"/>
                </a:solidFill>
              </a:rPr>
              <a:t>Platform</a:t>
            </a:r>
            <a:endParaRPr lang="en-US" sz="1550" dirty="0"/>
          </a:p>
        </p:txBody>
      </p:sp>
      <p:sp>
        <p:nvSpPr>
          <p:cNvPr id="23" name="Text 21"/>
          <p:cNvSpPr/>
          <p:nvPr/>
        </p:nvSpPr>
        <p:spPr>
          <a:xfrm>
            <a:off x="8348472" y="2578608"/>
            <a:ext cx="1517904" cy="10515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210" b="1" dirty="0">
                <a:solidFill>
                  <a:srgbClr val="F5FBFA"/>
                </a:solidFill>
              </a:rPr>
              <a:t>Add SIP live tutoring</a:t>
            </a:r>
            <a:endParaRPr lang="en-US" sz="1210" dirty="0"/>
          </a:p>
          <a:p>
            <a:pPr algn="ctr" indent="0" marL="0">
              <a:buNone/>
            </a:pPr>
            <a:r>
              <a:rPr lang="en-US" sz="1210" b="1" dirty="0">
                <a:solidFill>
                  <a:srgbClr val="F5FBFA"/>
                </a:solidFill>
              </a:rPr>
              <a:t>and a shared canvas</a:t>
            </a:r>
            <a:endParaRPr lang="en-US" sz="1210" dirty="0"/>
          </a:p>
        </p:txBody>
      </p:sp>
      <p:sp>
        <p:nvSpPr>
          <p:cNvPr id="24" name="Shape 22"/>
          <p:cNvSpPr/>
          <p:nvPr/>
        </p:nvSpPr>
        <p:spPr>
          <a:xfrm>
            <a:off x="10195560" y="1600200"/>
            <a:ext cx="1737360" cy="3566160"/>
          </a:xfrm>
          <a:prstGeom prst="roundRect">
            <a:avLst>
              <a:gd name="adj" fmla="val 6316"/>
            </a:avLst>
          </a:prstGeom>
          <a:solidFill>
            <a:srgbClr val="102421"/>
          </a:solidFill>
          <a:ln w="12700">
            <a:solidFill>
              <a:srgbClr val="2FA772">
                <a:alpha val="75000"/>
              </a:srgbClr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8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10287000" y="1847088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2FA772"/>
                </a:solidFill>
              </a:rPr>
              <a:t>Later</a:t>
            </a:r>
            <a:endParaRPr lang="en-US" sz="1550" dirty="0"/>
          </a:p>
        </p:txBody>
      </p:sp>
      <p:sp>
        <p:nvSpPr>
          <p:cNvPr id="26" name="Text 24"/>
          <p:cNvSpPr/>
          <p:nvPr/>
        </p:nvSpPr>
        <p:spPr>
          <a:xfrm>
            <a:off x="10305288" y="2578608"/>
            <a:ext cx="1517904" cy="10515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210" b="1" dirty="0">
                <a:solidFill>
                  <a:srgbClr val="F5FBFA"/>
                </a:solidFill>
              </a:rPr>
              <a:t>TVET engineering</a:t>
            </a:r>
            <a:endParaRPr lang="en-US" sz="1210" dirty="0"/>
          </a:p>
          <a:p>
            <a:pPr algn="ctr" indent="0" marL="0">
              <a:buNone/>
            </a:pPr>
            <a:r>
              <a:rPr lang="en-US" sz="1210" b="1" dirty="0">
                <a:solidFill>
                  <a:srgbClr val="F5FBFA"/>
                </a:solidFill>
              </a:rPr>
              <a:t>and broader Africa rollout</a:t>
            </a:r>
            <a:endParaRPr lang="en-US" sz="1210" dirty="0"/>
          </a:p>
        </p:txBody>
      </p:sp>
      <p:sp>
        <p:nvSpPr>
          <p:cNvPr id="27" name="Shape 25"/>
          <p:cNvSpPr/>
          <p:nvPr/>
        </p:nvSpPr>
        <p:spPr>
          <a:xfrm>
            <a:off x="822960" y="5559552"/>
            <a:ext cx="10561320" cy="694944"/>
          </a:xfrm>
          <a:prstGeom prst="roundRect">
            <a:avLst>
              <a:gd name="adj" fmla="val 15789"/>
            </a:avLst>
          </a:prstGeom>
          <a:solidFill>
            <a:srgbClr val="142D29"/>
          </a:solidFill>
          <a:ln w="12700">
            <a:solidFill>
              <a:srgbClr val="118A7B">
                <a:alpha val="5500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051560" y="5779008"/>
            <a:ext cx="10058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80" dirty="0">
                <a:solidFill>
                  <a:srgbClr val="F5FBFA"/>
                </a:solidFill>
              </a:rPr>
              <a:t>Future SIP service: AI-assisted private tutoring with video/audio calls similar to Meet, Teams and Zoom, plus a shared maths/text canvas for tutors and learners.</a:t>
            </a:r>
            <a:endParaRPr lang="en-US" sz="128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71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514"/>
          </a:solidFill>
          <a:ln w="12700">
            <a:solidFill>
              <a:srgbClr val="071514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4100F"/>
          </a:solidFill>
          <a:ln w="12700">
            <a:solidFill>
              <a:srgbClr val="04100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18A7B">
              <a:alpha val="75000"/>
            </a:srgbClr>
          </a:solidFill>
          <a:ln w="12700">
            <a:solidFill>
              <a:srgbClr val="118A7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320040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5FBF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Founder advantage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548640" y="749808"/>
            <a:ext cx="6675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8C7C4"/>
                </a:solidFill>
              </a:rPr>
              <a:t>Technical founder with QA, AI/data, engineering and teaching experience.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9646920" y="301752"/>
            <a:ext cx="1965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43E6CF"/>
                </a:solidFill>
              </a:rPr>
              <a:t>SharperTime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646920" y="713232"/>
            <a:ext cx="1965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8C7C4"/>
                </a:solidFill>
              </a:rPr>
              <a:t>Google Africa Applied AI Lab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777240" y="1298448"/>
            <a:ext cx="3794760" cy="4297680"/>
          </a:xfrm>
          <a:prstGeom prst="roundRect">
            <a:avLst>
              <a:gd name="adj" fmla="val 2892"/>
            </a:avLst>
          </a:prstGeom>
          <a:solidFill>
            <a:srgbClr val="142D29"/>
          </a:solidFill>
          <a:ln w="12700">
            <a:solidFill>
              <a:srgbClr val="43E6CF">
                <a:alpha val="75000"/>
              </a:srgbClr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1024128" y="1664208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5FBFA"/>
                </a:solidFill>
              </a:rPr>
              <a:t>Lesego Mohaule</a:t>
            </a:r>
            <a:endParaRPr lang="en-US" sz="2300" dirty="0"/>
          </a:p>
        </p:txBody>
      </p:sp>
      <p:sp>
        <p:nvSpPr>
          <p:cNvPr id="11" name="Text 9"/>
          <p:cNvSpPr/>
          <p:nvPr/>
        </p:nvSpPr>
        <p:spPr>
          <a:xfrm>
            <a:off x="1024128" y="2139696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3E6CF"/>
                </a:solidFill>
              </a:rPr>
              <a:t>Founder &amp; Director</a:t>
            </a:r>
            <a:endParaRPr lang="en-US" sz="1450" dirty="0"/>
          </a:p>
          <a:p>
            <a:pPr indent="0" marL="0">
              <a:buNone/>
            </a:pPr>
            <a:r>
              <a:rPr lang="en-US" sz="1450" b="1" dirty="0">
                <a:solidFill>
                  <a:srgbClr val="43E6CF"/>
                </a:solidFill>
              </a:rPr>
              <a:t>Sharper X (Pty) Ltd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1024128" y="2852928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60" dirty="0">
                <a:solidFill>
                  <a:srgbClr val="B8C7C4"/>
                </a:solidFill>
              </a:rPr>
              <a:t>Johannesburg, South Africa</a:t>
            </a:r>
            <a:endParaRPr lang="en-US" sz="1160" dirty="0"/>
          </a:p>
        </p:txBody>
      </p:sp>
      <p:sp>
        <p:nvSpPr>
          <p:cNvPr id="13" name="Text 11"/>
          <p:cNvSpPr/>
          <p:nvPr/>
        </p:nvSpPr>
        <p:spPr>
          <a:xfrm>
            <a:off x="1024128" y="338328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40" dirty="0">
                <a:solidFill>
                  <a:srgbClr val="F5FBFA"/>
                </a:solidFill>
              </a:rPr>
              <a:t>BSc (Hons) Big Data Analytics</a:t>
            </a:r>
            <a:endParaRPr lang="en-US" sz="1240" dirty="0"/>
          </a:p>
          <a:p>
            <a:pPr indent="0" marL="0">
              <a:buNone/>
            </a:pPr>
            <a:r>
              <a:rPr lang="en-US" sz="1240" dirty="0">
                <a:solidFill>
                  <a:srgbClr val="F5FBFA"/>
                </a:solidFill>
              </a:rPr>
              <a:t>BSc Geo-Informatics</a:t>
            </a:r>
            <a:endParaRPr lang="en-US" sz="1240" dirty="0"/>
          </a:p>
          <a:p>
            <a:pPr indent="0" marL="0">
              <a:buNone/>
            </a:pPr>
            <a:r>
              <a:rPr lang="en-US" sz="1240" dirty="0">
                <a:solidFill>
                  <a:srgbClr val="F5FBFA"/>
                </a:solidFill>
              </a:rPr>
              <a:t>National Diploma Electrical Engineering</a:t>
            </a:r>
            <a:endParaRPr lang="en-US" sz="1240" dirty="0"/>
          </a:p>
          <a:p>
            <a:pPr indent="0" marL="0">
              <a:buNone/>
            </a:pPr>
            <a:r>
              <a:rPr lang="en-US" sz="1240" dirty="0">
                <a:solidFill>
                  <a:srgbClr val="F5FBFA"/>
                </a:solidFill>
              </a:rPr>
              <a:t>ISTQB Certified Tester Foundation Level</a:t>
            </a:r>
            <a:endParaRPr lang="en-US" sz="1240" dirty="0"/>
          </a:p>
        </p:txBody>
      </p:sp>
      <p:sp>
        <p:nvSpPr>
          <p:cNvPr id="14" name="Shape 12"/>
          <p:cNvSpPr/>
          <p:nvPr/>
        </p:nvSpPr>
        <p:spPr>
          <a:xfrm>
            <a:off x="5193792" y="1389888"/>
            <a:ext cx="146304" cy="146304"/>
          </a:xfrm>
          <a:prstGeom prst="ellipse">
            <a:avLst/>
          </a:prstGeom>
          <a:solidFill>
            <a:srgbClr val="E9C35B"/>
          </a:solidFill>
          <a:ln w="12700">
            <a:solidFill>
              <a:srgbClr val="E9C35B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68112" y="129844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80" b="1" dirty="0">
                <a:solidFill>
                  <a:srgbClr val="F5FBFA"/>
                </a:solidFill>
              </a:rPr>
              <a:t>Software QA</a:t>
            </a:r>
            <a:endParaRPr lang="en-US" sz="1580" dirty="0"/>
          </a:p>
        </p:txBody>
      </p:sp>
      <p:sp>
        <p:nvSpPr>
          <p:cNvPr id="16" name="Text 14"/>
          <p:cNvSpPr/>
          <p:nvPr/>
        </p:nvSpPr>
        <p:spPr>
          <a:xfrm>
            <a:off x="5468112" y="1609344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B8C7C4"/>
                </a:solidFill>
              </a:rPr>
              <a:t>Functional, regression, usability, web and mobile testing; Appium and Selenium experience.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193792" y="2414016"/>
            <a:ext cx="146304" cy="146304"/>
          </a:xfrm>
          <a:prstGeom prst="ellipse">
            <a:avLst/>
          </a:prstGeom>
          <a:solidFill>
            <a:srgbClr val="E9C35B"/>
          </a:solidFill>
          <a:ln w="12700">
            <a:solidFill>
              <a:srgbClr val="E9C35B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68112" y="2322576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80" b="1" dirty="0">
                <a:solidFill>
                  <a:srgbClr val="F5FBFA"/>
                </a:solidFill>
              </a:rPr>
              <a:t>AI &amp; data capability</a:t>
            </a:r>
            <a:endParaRPr lang="en-US" sz="1580" dirty="0"/>
          </a:p>
        </p:txBody>
      </p:sp>
      <p:sp>
        <p:nvSpPr>
          <p:cNvPr id="19" name="Text 17"/>
          <p:cNvSpPr/>
          <p:nvPr/>
        </p:nvSpPr>
        <p:spPr>
          <a:xfrm>
            <a:off x="5468112" y="2633472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B8C7C4"/>
                </a:solidFill>
              </a:rPr>
              <a:t>Python, C#, Java, SQL, TensorFlow, PyTorch and data-analysis tools.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193792" y="3438144"/>
            <a:ext cx="146304" cy="146304"/>
          </a:xfrm>
          <a:prstGeom prst="ellipse">
            <a:avLst/>
          </a:prstGeom>
          <a:solidFill>
            <a:srgbClr val="E9C35B"/>
          </a:solidFill>
          <a:ln w="12700">
            <a:solidFill>
              <a:srgbClr val="E9C35B">
                <a:alpha val="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68112" y="3346704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80" b="1" dirty="0">
                <a:solidFill>
                  <a:srgbClr val="F5FBFA"/>
                </a:solidFill>
              </a:rPr>
              <a:t>Education link</a:t>
            </a:r>
            <a:endParaRPr lang="en-US" sz="1580" dirty="0"/>
          </a:p>
        </p:txBody>
      </p:sp>
      <p:sp>
        <p:nvSpPr>
          <p:cNvPr id="22" name="Text 20"/>
          <p:cNvSpPr/>
          <p:nvPr/>
        </p:nvSpPr>
        <p:spPr>
          <a:xfrm>
            <a:off x="5468112" y="3657600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B8C7C4"/>
                </a:solidFill>
              </a:rPr>
              <a:t>Former computer-science lab assistant and practical learner-support experience.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193792" y="4462272"/>
            <a:ext cx="146304" cy="146304"/>
          </a:xfrm>
          <a:prstGeom prst="ellipse">
            <a:avLst/>
          </a:prstGeom>
          <a:solidFill>
            <a:srgbClr val="E9C35B"/>
          </a:solidFill>
          <a:ln w="12700">
            <a:solidFill>
              <a:srgbClr val="E9C35B">
                <a:alpha val="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68112" y="4370832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80" b="1" dirty="0">
                <a:solidFill>
                  <a:srgbClr val="F5FBFA"/>
                </a:solidFill>
              </a:rPr>
              <a:t>Builder mindset</a:t>
            </a:r>
            <a:endParaRPr lang="en-US" sz="1580" dirty="0"/>
          </a:p>
        </p:txBody>
      </p:sp>
      <p:sp>
        <p:nvSpPr>
          <p:cNvPr id="25" name="Text 23"/>
          <p:cNvSpPr/>
          <p:nvPr/>
        </p:nvSpPr>
        <p:spPr>
          <a:xfrm>
            <a:off x="5468112" y="4681728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B8C7C4"/>
                </a:solidFill>
              </a:rPr>
              <a:t>Can build, test, iterate and launch the product rather than only outsource development.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932688" y="6053328"/>
            <a:ext cx="10287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20" b="1" dirty="0">
                <a:solidFill>
                  <a:srgbClr val="43E6CF"/>
                </a:solidFill>
              </a:rPr>
              <a:t>The founder profile matches SharperTime’s immediate needs: build, test, launch, measure and improve.</a:t>
            </a:r>
            <a:endParaRPr lang="en-US" sz="132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71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514"/>
          </a:solidFill>
          <a:ln w="12700">
            <a:solidFill>
              <a:srgbClr val="071514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4100F"/>
          </a:solidFill>
          <a:ln w="12700">
            <a:solidFill>
              <a:srgbClr val="04100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18A7B">
              <a:alpha val="75000"/>
            </a:srgbClr>
          </a:solidFill>
          <a:ln w="12700">
            <a:solidFill>
              <a:srgbClr val="118A7B">
                <a:alpha val="0"/>
              </a:srgbClr>
            </a:solidFill>
            <a:prstDash val="solid"/>
          </a:ln>
        </p:spPr>
      </p:sp>
      <p:pic>
        <p:nvPicPr>
          <p:cNvPr id="5" name="Image 0" descr="/mnt/data/calculus_lesson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749808" cy="74980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360920" y="676656"/>
            <a:ext cx="4160520" cy="3794760"/>
          </a:xfrm>
          <a:prstGeom prst="roundRect">
            <a:avLst>
              <a:gd name="adj" fmla="val 1928"/>
            </a:avLst>
          </a:prstGeom>
          <a:solidFill>
            <a:srgbClr val="F6FAF9"/>
          </a:solidFill>
          <a:ln w="12700">
            <a:solidFill>
              <a:srgbClr val="21403A">
                <a:alpha val="45000"/>
              </a:srgbClr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8000"/>
              </a:srgbClr>
            </a:outerShdw>
          </a:effectLst>
        </p:spPr>
      </p:sp>
      <p:pic>
        <p:nvPicPr>
          <p:cNvPr id="7" name="Image 1" descr="/mnt/data/pitch_assets/camera_graph_respons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70648" y="1465612"/>
            <a:ext cx="3941064" cy="2216849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749808" y="1371600"/>
            <a:ext cx="5669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5FBFA"/>
                </a:solidFill>
              </a:rPr>
              <a:t>Personalised AI tutoring that can scale from smartphones to schools across Africa.</a:t>
            </a:r>
            <a:endParaRPr lang="en-US" sz="2600" dirty="0"/>
          </a:p>
        </p:txBody>
      </p:sp>
      <p:sp>
        <p:nvSpPr>
          <p:cNvPr id="9" name="Shape 5"/>
          <p:cNvSpPr/>
          <p:nvPr/>
        </p:nvSpPr>
        <p:spPr>
          <a:xfrm>
            <a:off x="749808" y="3749040"/>
            <a:ext cx="5623560" cy="1353312"/>
          </a:xfrm>
          <a:prstGeom prst="roundRect">
            <a:avLst>
              <a:gd name="adj" fmla="val 8108"/>
            </a:avLst>
          </a:prstGeom>
          <a:solidFill>
            <a:srgbClr val="091918"/>
          </a:solidFill>
          <a:ln w="12700">
            <a:solidFill>
              <a:srgbClr val="43E6CF">
                <a:alpha val="75000"/>
              </a:srgbClr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8000"/>
              </a:srgbClr>
            </a:outerShdw>
          </a:effectLst>
        </p:spPr>
      </p:sp>
      <p:sp>
        <p:nvSpPr>
          <p:cNvPr id="10" name="Text 6"/>
          <p:cNvSpPr/>
          <p:nvPr/>
        </p:nvSpPr>
        <p:spPr>
          <a:xfrm>
            <a:off x="1024128" y="4005072"/>
            <a:ext cx="3291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3E6CF"/>
                </a:solidFill>
              </a:rPr>
              <a:t>Why Google Africa Applied AI Lab</a:t>
            </a:r>
            <a:endParaRPr lang="en-US" sz="1700" dirty="0"/>
          </a:p>
        </p:txBody>
      </p:sp>
      <p:sp>
        <p:nvSpPr>
          <p:cNvPr id="11" name="Text 7"/>
          <p:cNvSpPr/>
          <p:nvPr/>
        </p:nvSpPr>
        <p:spPr>
          <a:xfrm>
            <a:off x="1024128" y="4389120"/>
            <a:ext cx="4892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B8C7C4"/>
                </a:solidFill>
              </a:rPr>
              <a:t>Technical support, venture-building and Google AI tooling can help SharperTime improve multimodal performance, scale lesson content, refine questions and expand distribution.</a:t>
            </a:r>
            <a:endParaRPr lang="en-US" sz="1220" dirty="0"/>
          </a:p>
        </p:txBody>
      </p:sp>
      <p:sp>
        <p:nvSpPr>
          <p:cNvPr id="12" name="Text 8"/>
          <p:cNvSpPr/>
          <p:nvPr/>
        </p:nvSpPr>
        <p:spPr>
          <a:xfrm>
            <a:off x="768096" y="5715000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E9C35B"/>
                </a:solidFill>
              </a:rPr>
              <a:t>Sharper Solutions. Sharper Futures.</a:t>
            </a:r>
            <a:endParaRPr lang="en-US" sz="1550" dirty="0"/>
          </a:p>
        </p:txBody>
      </p:sp>
      <p:sp>
        <p:nvSpPr>
          <p:cNvPr id="13" name="Text 9"/>
          <p:cNvSpPr/>
          <p:nvPr/>
        </p:nvSpPr>
        <p:spPr>
          <a:xfrm>
            <a:off x="768096" y="6035040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8C7C4"/>
                </a:solidFill>
              </a:rPr>
              <a:t>Sharper X (Pty) Ltd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Sharper X (Pty) Ltd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SharperTime Google Africa Applied AI Lab Pitch Deck</dc:title>
  <dc:subject>SharperTime pitch deck for Google Africa Applied AI Lab</dc:subject>
  <dc:creator>OpenAI</dc:creator>
  <cp:lastModifiedBy>OpenAI</cp:lastModifiedBy>
  <cp:revision>1</cp:revision>
  <dcterms:created xsi:type="dcterms:W3CDTF">2026-08-30T12:38:57Z</dcterms:created>
  <dcterms:modified xsi:type="dcterms:W3CDTF">2026-08-30T12:38:57Z</dcterms:modified>
</cp:coreProperties>
</file>