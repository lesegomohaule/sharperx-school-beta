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1.jpg" ContentType="image/jpg"/>
  <Override PartName="/ppt/media/image-2-2.jpg" ContentType="image/jpg"/>
  <Override PartName="/ppt/media/image-6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502920"/>
            <a:ext cx="5577840" cy="5440680"/>
          </a:xfrm>
          <a:prstGeom prst="roundRect">
            <a:avLst>
              <a:gd name="adj" fmla="val 2017"/>
            </a:avLst>
          </a:prstGeom>
          <a:solidFill>
            <a:srgbClr val="F6FAF9"/>
          </a:solidFill>
          <a:ln w="12700">
            <a:solidFill>
              <a:srgbClr val="21403A">
                <a:alpha val="40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mnt/data/bb10cbe6-adeb-4d5d-b571-91dd721042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25239"/>
            <a:ext cx="5212080" cy="2722891"/>
          </a:xfrm>
          <a:prstGeom prst="rect">
            <a:avLst/>
          </a:prstGeom>
        </p:spPr>
      </p:pic>
      <p:pic>
        <p:nvPicPr>
          <p:cNvPr id="7" name="Image 1" descr="/mnt/data/calculus_lesson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0080"/>
            <a:ext cx="841248" cy="8412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4360" y="1645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BFA"/>
                </a:solidFill>
              </a:rPr>
              <a:t>SharperTime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12648" y="22402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3E6CF"/>
                </a:solidFill>
              </a:rPr>
              <a:t>AI-powered Grade 12 Mathematics tutoring for African learners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621792" y="31272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B8C7C4"/>
                </a:solidFill>
              </a:rPr>
              <a:t>A working Windows and Android platform for practice, hints, diagnostic marking, multimodal input and lesson videos.</a:t>
            </a:r>
            <a:endParaRPr lang="en-US" sz="1440" dirty="0"/>
          </a:p>
        </p:txBody>
      </p:sp>
      <p:sp>
        <p:nvSpPr>
          <p:cNvPr id="11" name="Text 7"/>
          <p:cNvSpPr/>
          <p:nvPr/>
        </p:nvSpPr>
        <p:spPr>
          <a:xfrm>
            <a:off x="621792" y="40690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F5FBFA"/>
                </a:solidFill>
              </a:rPr>
              <a:t>Sharper X (Pty) Ltd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F5FBFA"/>
                </a:solidFill>
              </a:rPr>
              <a:t>Founder: Lesego Mohaule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F5FBFA"/>
                </a:solidFill>
              </a:rPr>
              <a:t>Johannesburg, South Africa</a:t>
            </a:r>
            <a:endParaRPr lang="en-US" sz="1320" dirty="0"/>
          </a:p>
        </p:txBody>
      </p:sp>
      <p:sp>
        <p:nvSpPr>
          <p:cNvPr id="12" name="Shape 8"/>
          <p:cNvSpPr/>
          <p:nvPr/>
        </p:nvSpPr>
        <p:spPr>
          <a:xfrm>
            <a:off x="621792" y="5230368"/>
            <a:ext cx="4754880" cy="658368"/>
          </a:xfrm>
          <a:prstGeom prst="roundRect">
            <a:avLst>
              <a:gd name="adj" fmla="val 16667"/>
            </a:avLst>
          </a:prstGeom>
          <a:solidFill>
            <a:srgbClr val="091918"/>
          </a:solidFill>
          <a:ln w="12700">
            <a:solidFill>
              <a:srgbClr val="43E6CF">
                <a:alpha val="80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41248" y="5440680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C35B"/>
                </a:solidFill>
              </a:rPr>
              <a:t>Application deck for Google Africa Applied AI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problem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Affordable, personalised mathematics help is still difficult to access.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8368" y="1170432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BFA"/>
                </a:solidFill>
              </a:rPr>
              <a:t>Many learners need help exactly when they are studying alone.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4672" y="206654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20116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8C7C4"/>
                </a:solidFill>
              </a:rPr>
              <a:t>Private tutoring is effective but too expensive for many families.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" y="2688336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26334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8C7C4"/>
                </a:solidFill>
              </a:rPr>
              <a:t>School mathematics is multimodal: equations, working, graphs and diagrams.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672" y="3310128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33272" y="325526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8C7C4"/>
                </a:solidFill>
              </a:rPr>
              <a:t>Generic AI tools do not provide a structured learning flow, marking and feedback.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672" y="3931920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3272" y="387705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8C7C4"/>
                </a:solidFill>
              </a:rPr>
              <a:t>Learners need immediate correction, not only final answers.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77240" y="4937760"/>
            <a:ext cx="1645920" cy="1170432"/>
          </a:xfrm>
          <a:prstGeom prst="roundRect">
            <a:avLst>
              <a:gd name="adj" fmla="val 9375"/>
            </a:avLst>
          </a:prstGeom>
          <a:solidFill>
            <a:srgbClr val="142D29"/>
          </a:solidFill>
          <a:ln w="12700">
            <a:solidFill>
              <a:srgbClr val="E9C35B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0392" y="5074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C35B"/>
                </a:solidFill>
              </a:rPr>
              <a:t>R35–R50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68680" y="5577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B8C7C4"/>
                </a:solidFill>
              </a:rPr>
              <a:t>Target 30-day price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2651760" y="4937760"/>
            <a:ext cx="1645920" cy="1170432"/>
          </a:xfrm>
          <a:prstGeom prst="roundRect">
            <a:avLst>
              <a:gd name="adj" fmla="val 9375"/>
            </a:avLst>
          </a:prstGeom>
          <a:solidFill>
            <a:srgbClr val="142D29"/>
          </a:solidFill>
          <a:ln w="12700">
            <a:solidFill>
              <a:srgbClr val="43E6CF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724912" y="5074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3E6CF"/>
                </a:solidFill>
              </a:rPr>
              <a:t>Grade 12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743200" y="5577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B8C7C4"/>
                </a:solidFill>
              </a:rPr>
              <a:t>Initial launch focus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4526280" y="4937760"/>
            <a:ext cx="1783080" cy="1170432"/>
          </a:xfrm>
          <a:prstGeom prst="roundRect">
            <a:avLst>
              <a:gd name="adj" fmla="val 9375"/>
            </a:avLst>
          </a:prstGeom>
          <a:solidFill>
            <a:srgbClr val="142D29"/>
          </a:solidFill>
          <a:ln w="12700">
            <a:solidFill>
              <a:srgbClr val="F29D52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99432" y="507492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9D52"/>
                </a:solidFill>
              </a:rPr>
              <a:t>Local → Africa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617720" y="5577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B8C7C4"/>
                </a:solidFill>
              </a:rPr>
              <a:t>Expansion path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6812280" y="1115568"/>
            <a:ext cx="2011680" cy="4937760"/>
          </a:xfrm>
          <a:prstGeom prst="roundRect">
            <a:avLst>
              <a:gd name="adj" fmla="val 3636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28" name="Image 0" descr="/mnt/data/85747cf2-ccf4-46e0-8e55-2aa3879841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2234184"/>
            <a:ext cx="1792224" cy="238963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922008" y="578815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Textbook question</a:t>
            </a:r>
            <a:endParaRPr lang="en-US" sz="1080" dirty="0"/>
          </a:p>
        </p:txBody>
      </p:sp>
      <p:sp>
        <p:nvSpPr>
          <p:cNvPr id="30" name="Shape 27"/>
          <p:cNvSpPr/>
          <p:nvPr/>
        </p:nvSpPr>
        <p:spPr>
          <a:xfrm>
            <a:off x="9025128" y="1115568"/>
            <a:ext cx="2011680" cy="4937760"/>
          </a:xfrm>
          <a:prstGeom prst="roundRect">
            <a:avLst>
              <a:gd name="adj" fmla="val 3636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31" name="Image 1" descr="/mnt/data/324a6320-d1e2-47e9-bce8-0772629ae2e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234184"/>
            <a:ext cx="1792224" cy="238963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9134856" y="578815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Handwritten graph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solution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A focused AI tutor built around real mathematics workflows.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115568"/>
            <a:ext cx="5120640" cy="4526280"/>
          </a:xfrm>
          <a:prstGeom prst="roundRect">
            <a:avLst>
              <a:gd name="adj" fmla="val 1616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bb10cbe6-adeb-4d5d-b571-91dd721042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098472"/>
            <a:ext cx="4901184" cy="256047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172200" y="1170432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BFA"/>
                </a:solidFill>
              </a:rPr>
              <a:t>SharperTime combines structured learning with multimodal AI.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217920" y="2066544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10528" y="1993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Ask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7635240" y="19933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Learners ask mathematics questions naturally.</a:t>
            </a:r>
            <a:endParaRPr lang="en-US" sz="1320" dirty="0"/>
          </a:p>
        </p:txBody>
      </p:sp>
      <p:sp>
        <p:nvSpPr>
          <p:cNvPr id="15" name="Shape 12"/>
          <p:cNvSpPr/>
          <p:nvPr/>
        </p:nvSpPr>
        <p:spPr>
          <a:xfrm>
            <a:off x="6217920" y="2779776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0528" y="27066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Practice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635240" y="270662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Difficulty-based practice with hints and guided feedback.</a:t>
            </a:r>
            <a:endParaRPr lang="en-US" sz="1320" dirty="0"/>
          </a:p>
        </p:txBody>
      </p:sp>
      <p:sp>
        <p:nvSpPr>
          <p:cNvPr id="18" name="Shape 15"/>
          <p:cNvSpPr/>
          <p:nvPr/>
        </p:nvSpPr>
        <p:spPr>
          <a:xfrm>
            <a:off x="6217920" y="3493008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10528" y="34198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Mark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7635240" y="341985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The app checks answers and explains mistakes.</a:t>
            </a:r>
            <a:endParaRPr lang="en-US" sz="1320" dirty="0"/>
          </a:p>
        </p:txBody>
      </p:sp>
      <p:sp>
        <p:nvSpPr>
          <p:cNvPr id="21" name="Shape 18"/>
          <p:cNvSpPr/>
          <p:nvPr/>
        </p:nvSpPr>
        <p:spPr>
          <a:xfrm>
            <a:off x="6217920" y="4206240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10528" y="4133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Capture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7635240" y="413308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Textbook images, handwritten work, voice and graphs.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6217920" y="4919472"/>
            <a:ext cx="164592" cy="164592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10528" y="48463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Learn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7635240" y="48463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Short lesson videos connected to revision and practice.</a:t>
            </a:r>
            <a:endParaRPr lang="en-US" sz="1320" dirty="0"/>
          </a:p>
        </p:txBody>
      </p:sp>
      <p:sp>
        <p:nvSpPr>
          <p:cNvPr id="27" name="Shape 24"/>
          <p:cNvSpPr/>
          <p:nvPr/>
        </p:nvSpPr>
        <p:spPr>
          <a:xfrm>
            <a:off x="6199632" y="5486400"/>
            <a:ext cx="4663440" cy="658368"/>
          </a:xfrm>
          <a:prstGeom prst="roundRect">
            <a:avLst>
              <a:gd name="adj" fmla="val 16667"/>
            </a:avLst>
          </a:prstGeom>
          <a:solidFill>
            <a:srgbClr val="142D29"/>
          </a:solidFill>
          <a:ln w="12700">
            <a:solidFill>
              <a:srgbClr val="118A7B">
                <a:alpha val="5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19088" y="5696712"/>
            <a:ext cx="4224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b="1" dirty="0">
                <a:solidFill>
                  <a:srgbClr val="F5FBFA"/>
                </a:solidFill>
              </a:rPr>
              <a:t>Not a generic chatbot — a learning platform designed for a focused Grade 12 Mathematics launch.</a:t>
            </a:r>
            <a:endParaRPr lang="en-US" sz="12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already working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A real app experience has been recorded and demonstrated.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" y="1234440"/>
            <a:ext cx="2468880" cy="4526280"/>
          </a:xfrm>
          <a:prstGeom prst="roundRect">
            <a:avLst>
              <a:gd name="adj" fmla="val 2963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d769abef-5a64-4a18-97c7-b9359106ecf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746835"/>
            <a:ext cx="2249424" cy="119059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85216" y="5495544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Choose grade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3410712" y="1234440"/>
            <a:ext cx="2468880" cy="4526280"/>
          </a:xfrm>
          <a:prstGeom prst="roundRect">
            <a:avLst>
              <a:gd name="adj" fmla="val 2963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/mnt/data/bb10cbe6-adeb-4d5d-b571-91dd721042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754561"/>
            <a:ext cx="2249424" cy="117514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20440" y="5495544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Select topic / mode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6345936" y="1234440"/>
            <a:ext cx="2468880" cy="4526280"/>
          </a:xfrm>
          <a:prstGeom prst="roundRect">
            <a:avLst>
              <a:gd name="adj" fmla="val 2963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/mnt/data/pitch_assets/hi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709482"/>
            <a:ext cx="2249424" cy="126530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55664" y="5495544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Get a hint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9281160" y="1234440"/>
            <a:ext cx="2468880" cy="4526280"/>
          </a:xfrm>
          <a:prstGeom prst="roundRect">
            <a:avLst>
              <a:gd name="adj" fmla="val 2963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9" name="Image 3" descr="/mnt/data/pitch_assets/correct_mark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0888" y="2709482"/>
            <a:ext cx="2249424" cy="126530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390888" y="5495544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Receive marking</a:t>
            </a:r>
            <a:endParaRPr lang="en-US" sz="1080" dirty="0"/>
          </a:p>
        </p:txBody>
      </p:sp>
      <p:sp>
        <p:nvSpPr>
          <p:cNvPr id="21" name="Text 15"/>
          <p:cNvSpPr/>
          <p:nvPr/>
        </p:nvSpPr>
        <p:spPr>
          <a:xfrm>
            <a:off x="822960" y="5989320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F5FBFA"/>
                </a:solidFill>
              </a:rPr>
              <a:t>The product demo shows the actual app: topic choice, difficulty selection, hints, answer entry and diagnostic correction feedback.</a:t>
            </a:r>
            <a:endParaRPr lang="en-US" sz="14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tutoring and practice workflow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The learner does the work; the app guides, checks and explains.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1097280"/>
            <a:ext cx="3474720" cy="2880360"/>
          </a:xfrm>
          <a:prstGeom prst="roundRect">
            <a:avLst>
              <a:gd name="adj" fmla="val 254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pitch_assets/h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66469"/>
            <a:ext cx="3255264" cy="183108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9808" y="3712464"/>
            <a:ext cx="3255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Optional hints and formulas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4370832" y="1097280"/>
            <a:ext cx="3474720" cy="2880360"/>
          </a:xfrm>
          <a:prstGeom prst="roundRect">
            <a:avLst>
              <a:gd name="adj" fmla="val 254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/mnt/data/pitch_assets/correct_mar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466469"/>
            <a:ext cx="3255264" cy="183108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0560" y="3712464"/>
            <a:ext cx="3255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Diagnostic marking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8101584" y="1097280"/>
            <a:ext cx="3474720" cy="2880360"/>
          </a:xfrm>
          <a:prstGeom prst="roundRect">
            <a:avLst>
              <a:gd name="adj" fmla="val 254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/mnt/data/pitch_assets/voice_re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466469"/>
            <a:ext cx="3255264" cy="18310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11312" y="3712464"/>
            <a:ext cx="3255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Review before sending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822960" y="4389120"/>
            <a:ext cx="10515600" cy="1389888"/>
          </a:xfrm>
          <a:prstGeom prst="roundRect">
            <a:avLst>
              <a:gd name="adj" fmla="val 7895"/>
            </a:avLst>
          </a:prstGeom>
          <a:solidFill>
            <a:srgbClr val="142D29"/>
          </a:solidFill>
          <a:ln w="12700">
            <a:solidFill>
              <a:srgbClr val="118A7B">
                <a:alpha val="5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78992" y="4681728"/>
            <a:ext cx="411480" cy="411480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78992" y="47914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514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645920" y="4645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5FBFA"/>
                </a:solidFill>
              </a:rPr>
              <a:t>Select topic and difficulty</a:t>
            </a:r>
            <a:endParaRPr lang="en-US" sz="1330" dirty="0"/>
          </a:p>
        </p:txBody>
      </p:sp>
      <p:sp>
        <p:nvSpPr>
          <p:cNvPr id="22" name="Shape 17"/>
          <p:cNvSpPr/>
          <p:nvPr/>
        </p:nvSpPr>
        <p:spPr>
          <a:xfrm>
            <a:off x="3621024" y="4681728"/>
            <a:ext cx="411480" cy="411480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621024" y="47914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514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4187952" y="4645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5FBFA"/>
                </a:solidFill>
              </a:rPr>
              <a:t>Attempt a real question</a:t>
            </a:r>
            <a:endParaRPr lang="en-US" sz="1330" dirty="0"/>
          </a:p>
        </p:txBody>
      </p:sp>
      <p:sp>
        <p:nvSpPr>
          <p:cNvPr id="25" name="Shape 20"/>
          <p:cNvSpPr/>
          <p:nvPr/>
        </p:nvSpPr>
        <p:spPr>
          <a:xfrm>
            <a:off x="6163056" y="4681728"/>
            <a:ext cx="411480" cy="411480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163056" y="47914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514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6729984" y="4645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5FBFA"/>
                </a:solidFill>
              </a:rPr>
              <a:t>Ask for hint when needed</a:t>
            </a:r>
            <a:endParaRPr lang="en-US" sz="1330" dirty="0"/>
          </a:p>
        </p:txBody>
      </p:sp>
      <p:sp>
        <p:nvSpPr>
          <p:cNvPr id="28" name="Shape 23"/>
          <p:cNvSpPr/>
          <p:nvPr/>
        </p:nvSpPr>
        <p:spPr>
          <a:xfrm>
            <a:off x="8705088" y="4681728"/>
            <a:ext cx="411480" cy="411480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705088" y="47914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514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9272016" y="4645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5FBFA"/>
                </a:solidFill>
              </a:rPr>
              <a:t>Receive marking and correction</a:t>
            </a:r>
            <a:endParaRPr lang="en-US" sz="1330" dirty="0"/>
          </a:p>
        </p:txBody>
      </p:sp>
      <p:sp>
        <p:nvSpPr>
          <p:cNvPr id="31" name="Text 26"/>
          <p:cNvSpPr/>
          <p:nvPr/>
        </p:nvSpPr>
        <p:spPr>
          <a:xfrm>
            <a:off x="1097280" y="5998464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0" dirty="0">
                <a:solidFill>
                  <a:srgbClr val="B8C7C4"/>
                </a:solidFill>
              </a:rPr>
              <a:t>The current product focuses on user-selected difficulty, hints and corrective feedback rather than giving full solutions as the default learner experience.</a:t>
            </a:r>
            <a:endParaRPr lang="en-US" sz="12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Multimodal AI learning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SharperTime works with the way learners actually produce mathematics.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170432"/>
            <a:ext cx="2377440" cy="1965960"/>
          </a:xfrm>
          <a:prstGeom prst="roundRect">
            <a:avLst>
              <a:gd name="adj" fmla="val 3721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437ea6aa-e680-4ae9-9e43-3295423f724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008" y="1280160"/>
            <a:ext cx="1914144" cy="1435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04088" y="2871216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Handwritten solution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594360" y="3346704"/>
            <a:ext cx="2377440" cy="2148840"/>
          </a:xfrm>
          <a:prstGeom prst="roundRect">
            <a:avLst>
              <a:gd name="adj" fmla="val 3404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/mnt/data/324a6320-d1e2-47e9-bce8-0772629ae2e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147" y="3456432"/>
            <a:ext cx="1213866" cy="1618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4088" y="5230368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Hand-drawn graph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3246120" y="1170432"/>
            <a:ext cx="3703320" cy="1965960"/>
          </a:xfrm>
          <a:prstGeom prst="roundRect">
            <a:avLst>
              <a:gd name="adj" fmla="val 3721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/mnt/data/pitch_assets/voice_to_mat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684" y="1280160"/>
            <a:ext cx="2552192" cy="1435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355848" y="2871216"/>
            <a:ext cx="3483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Voice to maths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3246120" y="3346704"/>
            <a:ext cx="3703320" cy="2148840"/>
          </a:xfrm>
          <a:prstGeom prst="roundRect">
            <a:avLst>
              <a:gd name="adj" fmla="val 3404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9" name="Image 3" descr="/mnt/data/pitch_assets/camera_graph_respon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124" y="3456432"/>
            <a:ext cx="2877312" cy="16184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355848" y="5230368"/>
            <a:ext cx="3483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Image upload and analysis</a:t>
            </a:r>
            <a:endParaRPr lang="en-US" sz="1080" dirty="0"/>
          </a:p>
        </p:txBody>
      </p:sp>
      <p:sp>
        <p:nvSpPr>
          <p:cNvPr id="21" name="Text 15"/>
          <p:cNvSpPr/>
          <p:nvPr/>
        </p:nvSpPr>
        <p:spPr>
          <a:xfrm>
            <a:off x="7680960" y="148132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35B"/>
                </a:solidFill>
              </a:rPr>
              <a:t>Inputs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7680960" y="188366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909560" y="182880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Typed mathematics</a:t>
            </a:r>
            <a:endParaRPr lang="en-US" sz="1330" dirty="0"/>
          </a:p>
        </p:txBody>
      </p:sp>
      <p:sp>
        <p:nvSpPr>
          <p:cNvPr id="24" name="Shape 18"/>
          <p:cNvSpPr/>
          <p:nvPr/>
        </p:nvSpPr>
        <p:spPr>
          <a:xfrm>
            <a:off x="7680960" y="2377440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909560" y="2322576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Voice converted into mathematical notation</a:t>
            </a:r>
            <a:endParaRPr lang="en-US" sz="1330" dirty="0"/>
          </a:p>
        </p:txBody>
      </p:sp>
      <p:sp>
        <p:nvSpPr>
          <p:cNvPr id="26" name="Shape 20"/>
          <p:cNvSpPr/>
          <p:nvPr/>
        </p:nvSpPr>
        <p:spPr>
          <a:xfrm>
            <a:off x="7680960" y="2871216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909560" y="281635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Textbook and photo uploads</a:t>
            </a:r>
            <a:endParaRPr lang="en-US" sz="1330" dirty="0"/>
          </a:p>
        </p:txBody>
      </p:sp>
      <p:sp>
        <p:nvSpPr>
          <p:cNvPr id="28" name="Shape 22"/>
          <p:cNvSpPr/>
          <p:nvPr/>
        </p:nvSpPr>
        <p:spPr>
          <a:xfrm>
            <a:off x="7680960" y="3364992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909560" y="331012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Handwritten working and graphs</a:t>
            </a:r>
            <a:endParaRPr lang="en-US" sz="1330" dirty="0"/>
          </a:p>
        </p:txBody>
      </p:sp>
      <p:sp>
        <p:nvSpPr>
          <p:cNvPr id="30" name="Text 24"/>
          <p:cNvSpPr/>
          <p:nvPr/>
        </p:nvSpPr>
        <p:spPr>
          <a:xfrm>
            <a:off x="7680960" y="36576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35B"/>
                </a:solidFill>
              </a:rPr>
              <a:t>Outputs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7680960" y="4059936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7909560" y="400507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Editable transcription and confirmation</a:t>
            </a:r>
            <a:endParaRPr lang="en-US" sz="1330" dirty="0"/>
          </a:p>
        </p:txBody>
      </p:sp>
      <p:sp>
        <p:nvSpPr>
          <p:cNvPr id="33" name="Shape 27"/>
          <p:cNvSpPr/>
          <p:nvPr/>
        </p:nvSpPr>
        <p:spPr>
          <a:xfrm>
            <a:off x="7680960" y="4553712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909560" y="449884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Mathematics reasoning and marking</a:t>
            </a:r>
            <a:endParaRPr lang="en-US" sz="1330" dirty="0"/>
          </a:p>
        </p:txBody>
      </p:sp>
      <p:sp>
        <p:nvSpPr>
          <p:cNvPr id="35" name="Shape 29"/>
          <p:cNvSpPr/>
          <p:nvPr/>
        </p:nvSpPr>
        <p:spPr>
          <a:xfrm>
            <a:off x="7680960" y="5047488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09560" y="49926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Specific feedback and correction</a:t>
            </a:r>
            <a:endParaRPr lang="en-US" sz="1330" dirty="0"/>
          </a:p>
        </p:txBody>
      </p:sp>
      <p:sp>
        <p:nvSpPr>
          <p:cNvPr id="37" name="Shape 31"/>
          <p:cNvSpPr/>
          <p:nvPr/>
        </p:nvSpPr>
        <p:spPr>
          <a:xfrm>
            <a:off x="7680960" y="554126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909560" y="548640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C4"/>
                </a:solidFill>
              </a:rPr>
              <a:t>Graph-aware responses</a:t>
            </a:r>
            <a:endParaRPr lang="en-US" sz="1330" dirty="0"/>
          </a:p>
        </p:txBody>
      </p:sp>
      <p:sp>
        <p:nvSpPr>
          <p:cNvPr id="39" name="Text 33"/>
          <p:cNvSpPr/>
          <p:nvPr/>
        </p:nvSpPr>
        <p:spPr>
          <a:xfrm>
            <a:off x="658368" y="601675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5FBFA"/>
                </a:solidFill>
              </a:rPr>
              <a:t>This matters because school mathematics is not just a text-chat problem.</a:t>
            </a:r>
            <a:endParaRPr lang="en-US" sz="14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Lesson-video content engine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Google AI tools can help create, refine and expand short CAPS-aligned lessons.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1170432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mnt/data/pitch_assets/calculus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444" y="1280160"/>
            <a:ext cx="4259072" cy="239572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9808" y="3831336"/>
            <a:ext cx="5038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Differential Calculus lesson sample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6291072" y="1170432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/mnt/data/pitch_assets/calculus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436" y="1280160"/>
            <a:ext cx="4259072" cy="23957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0" y="3831336"/>
            <a:ext cx="5038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72321"/>
                </a:solidFill>
              </a:rPr>
              <a:t>Worked-example teaching style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658368" y="4462272"/>
            <a:ext cx="3474720" cy="1188720"/>
          </a:xfrm>
          <a:prstGeom prst="roundRect">
            <a:avLst>
              <a:gd name="adj" fmla="val 9231"/>
            </a:avLst>
          </a:prstGeom>
          <a:solidFill>
            <a:srgbClr val="142D29"/>
          </a:solidFill>
          <a:ln w="12700">
            <a:solidFill>
              <a:srgbClr val="43E6CF">
                <a:alpha val="65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7824" y="46817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3E6CF"/>
                </a:solidFill>
              </a:rPr>
              <a:t>Initial focus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877824" y="4983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BFA"/>
                </a:solidFill>
              </a:rPr>
              <a:t>High-school Mathematics, starting with Grade 12.</a:t>
            </a:r>
            <a:endParaRPr lang="en-US" sz="1550" dirty="0"/>
          </a:p>
        </p:txBody>
      </p:sp>
      <p:sp>
        <p:nvSpPr>
          <p:cNvPr id="18" name="Shape 14"/>
          <p:cNvSpPr/>
          <p:nvPr/>
        </p:nvSpPr>
        <p:spPr>
          <a:xfrm>
            <a:off x="4352544" y="4462272"/>
            <a:ext cx="3474720" cy="1188720"/>
          </a:xfrm>
          <a:prstGeom prst="roundRect">
            <a:avLst>
              <a:gd name="adj" fmla="val 9231"/>
            </a:avLst>
          </a:prstGeom>
          <a:solidFill>
            <a:srgbClr val="142D29"/>
          </a:solidFill>
          <a:ln w="12700">
            <a:solidFill>
              <a:srgbClr val="E9C35B">
                <a:alpha val="6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572000" y="46817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C35B"/>
                </a:solidFill>
              </a:rPr>
              <a:t>Content expansion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4572000" y="4983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BFA"/>
                </a:solidFill>
              </a:rPr>
              <a:t>All topics, subtopics and sections for each grade.</a:t>
            </a:r>
            <a:endParaRPr lang="en-US" sz="1550" dirty="0"/>
          </a:p>
        </p:txBody>
      </p:sp>
      <p:sp>
        <p:nvSpPr>
          <p:cNvPr id="21" name="Shape 17"/>
          <p:cNvSpPr/>
          <p:nvPr/>
        </p:nvSpPr>
        <p:spPr>
          <a:xfrm>
            <a:off x="8046720" y="4462272"/>
            <a:ext cx="3474720" cy="1188720"/>
          </a:xfrm>
          <a:prstGeom prst="roundRect">
            <a:avLst>
              <a:gd name="adj" fmla="val 9231"/>
            </a:avLst>
          </a:prstGeom>
          <a:solidFill>
            <a:srgbClr val="142D29"/>
          </a:solidFill>
          <a:ln w="12700">
            <a:solidFill>
              <a:srgbClr val="F29D52">
                <a:alpha val="6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266176" y="46817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9D52"/>
                </a:solidFill>
              </a:rPr>
              <a:t>Future scope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8266176" y="4983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BFA"/>
                </a:solidFill>
              </a:rPr>
              <a:t>Other high-school subjects and TVET engineering.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Google AI can accelerate SharperTime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Google AI can become materially impactful across product quality and scale.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298448"/>
            <a:ext cx="3154680" cy="4526280"/>
          </a:xfrm>
          <a:prstGeom prst="roundRect">
            <a:avLst>
              <a:gd name="adj" fmla="val 3478"/>
            </a:avLst>
          </a:prstGeom>
          <a:solidFill>
            <a:srgbClr val="102421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41832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3E6CF"/>
                </a:solidFill>
              </a:rPr>
              <a:t>Gemini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41832" y="220370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21488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Stronger multimodal maths understanding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941832" y="284378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278892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Better handling of handwriting, images, diagrams and graphs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941832" y="348386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0432" y="342900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Richer explanations and tutoring interactions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4160520" y="1298448"/>
            <a:ext cx="3154680" cy="4526280"/>
          </a:xfrm>
          <a:prstGeom prst="roundRect">
            <a:avLst>
              <a:gd name="adj" fmla="val 3478"/>
            </a:avLst>
          </a:prstGeom>
          <a:solidFill>
            <a:srgbClr val="102421"/>
          </a:solidFill>
          <a:ln w="12700">
            <a:solidFill>
              <a:srgbClr val="E9C35B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16552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C35B"/>
                </a:solidFill>
              </a:rPr>
              <a:t>Gemma / efficient models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416552" y="2203704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45152" y="21488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Lower-cost routing for routine tasks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4416552" y="2843784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45152" y="278892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Potential support for low-connectivity environments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4416552" y="3483864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5152" y="342900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Reusable feedback and question-classification workflows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7635240" y="1298448"/>
            <a:ext cx="3154680" cy="4526280"/>
          </a:xfrm>
          <a:prstGeom prst="roundRect">
            <a:avLst>
              <a:gd name="adj" fmla="val 3478"/>
            </a:avLst>
          </a:prstGeom>
          <a:solidFill>
            <a:srgbClr val="102421"/>
          </a:solidFill>
          <a:ln w="12700">
            <a:solidFill>
              <a:srgbClr val="F29D52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891272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9D52"/>
                </a:solidFill>
              </a:rPr>
              <a:t>Google tooling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7891272" y="2203704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19872" y="21488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Lesson-video creation and content iteration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7891272" y="2843784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19872" y="278892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Question refinement and evaluation workflows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891272" y="3483864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19872" y="342900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Support for Apple/Mac expansion and cloud-scale delivery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822960" y="5961888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10" b="1" dirty="0">
                <a:solidFill>
                  <a:srgbClr val="F5FBFA"/>
                </a:solidFill>
              </a:rPr>
              <a:t>Goal: improve multimodal accuracy, question quality, lesson-content scale, latency and cost while keeping the learner experience simple.</a:t>
            </a:r>
            <a:endParaRPr lang="en-US" sz="14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10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56032" y="164592"/>
            <a:ext cx="10972800" cy="6053328"/>
          </a:xfrm>
          <a:prstGeom prst="roundRect">
            <a:avLst>
              <a:gd name="adj" fmla="val 12000"/>
            </a:avLst>
          </a:prstGeom>
          <a:solidFill>
            <a:srgbClr val="092422"/>
          </a:solidFill>
          <a:ln w="15240">
            <a:solidFill>
              <a:srgbClr val="204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000">
                <a:solidFill>
                  <a:srgbClr val="41E8DC"/>
                </a:solidFill>
                <a:latin typeface="Aptos Display"/>
              </a:rPr>
              <a:t>Checkout offer at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5852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C6D6D2"/>
                </a:solidFill>
                <a:latin typeface="Aptos"/>
              </a:rPr>
              <a:t>One clear checkout option combines tutor access, lesson-video access and a defined AI usage allowance.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402336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50" b="1">
                <a:solidFill>
                  <a:srgbClr val="41E8DC"/>
                </a:solidFill>
                <a:latin typeface="Aptos"/>
              </a:rPr>
              <a:t>SharperTime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21240" y="713232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60">
                <a:solidFill>
                  <a:srgbClr val="C6D6D2"/>
                </a:solidFill>
                <a:latin typeface="Aptos"/>
              </a:rPr>
              <a:t>Google Africa Applied AI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18688" y="1298448"/>
            <a:ext cx="4480560" cy="2971800"/>
          </a:xfrm>
          <a:prstGeom prst="roundRect">
            <a:avLst>
              <a:gd name="adj" fmla="val 12000"/>
            </a:avLst>
          </a:prstGeom>
          <a:solidFill>
            <a:srgbClr val="081F1E"/>
          </a:solidFill>
          <a:ln w="22860">
            <a:solidFill>
              <a:srgbClr val="41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91056"/>
            <a:ext cx="388620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E7BB3B"/>
                </a:solidFill>
                <a:latin typeface="Aptos"/>
              </a:rPr>
              <a:t>R35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084831"/>
            <a:ext cx="3520440" cy="1572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20" b="0">
                <a:solidFill>
                  <a:srgbClr val="F5FAF8"/>
                </a:solidFill>
                <a:latin typeface="Aptos"/>
              </a:rPr>
              <a:t>30 days of combined</a:t>
            </a:r>
          </a:p>
          <a:p>
            <a:pPr algn="ctr">
              <a:spcBef>
                <a:spcPts val="200"/>
              </a:spcBef>
            </a:pPr>
            <a:r>
              <a:rPr sz="1320" b="0">
                <a:solidFill>
                  <a:srgbClr val="F5FAF8"/>
                </a:solidFill>
                <a:latin typeface="Aptos"/>
              </a:rPr>
              <a:t>Grade 12 Mathematics</a:t>
            </a:r>
          </a:p>
          <a:p>
            <a:pPr algn="ctr">
              <a:spcBef>
                <a:spcPts val="200"/>
              </a:spcBef>
            </a:pPr>
            <a:r>
              <a:rPr sz="1320" b="0">
                <a:solidFill>
                  <a:srgbClr val="F5FAF8"/>
                </a:solidFill>
                <a:latin typeface="Aptos"/>
              </a:rPr>
              <a:t>tutor access and lesson-</a:t>
            </a:r>
          </a:p>
          <a:p>
            <a:pPr algn="ctr">
              <a:spcBef>
                <a:spcPts val="200"/>
              </a:spcBef>
            </a:pPr>
            <a:r>
              <a:rPr sz="1320" b="0">
                <a:solidFill>
                  <a:srgbClr val="F5FAF8"/>
                </a:solidFill>
                <a:latin typeface="Aptos"/>
              </a:rPr>
              <a:t>video access, together</a:t>
            </a:r>
          </a:p>
          <a:p>
            <a:pPr algn="ctr">
              <a:spcBef>
                <a:spcPts val="200"/>
              </a:spcBef>
            </a:pPr>
            <a:r>
              <a:rPr sz="1320" b="0">
                <a:solidFill>
                  <a:srgbClr val="F5FAF8"/>
                </a:solidFill>
                <a:latin typeface="Aptos"/>
              </a:rPr>
              <a:t>with a standard AI usage</a:t>
            </a:r>
          </a:p>
          <a:p>
            <a:pPr algn="ctr">
              <a:spcBef>
                <a:spcPts val="200"/>
              </a:spcBef>
            </a:pPr>
            <a:r>
              <a:rPr sz="1320" b="0">
                <a:solidFill>
                  <a:srgbClr val="F5FAF8"/>
                </a:solidFill>
                <a:latin typeface="Aptos"/>
              </a:rPr>
              <a:t>allowance with a service</a:t>
            </a:r>
          </a:p>
          <a:p>
            <a:pPr algn="ctr">
              <a:spcBef>
                <a:spcPts val="200"/>
              </a:spcBef>
            </a:pPr>
            <a:r>
              <a:rPr sz="1320" b="0">
                <a:solidFill>
                  <a:srgbClr val="F5FAF8"/>
                </a:solidFill>
                <a:latin typeface="Aptos"/>
              </a:rPr>
              <a:t>value of R5.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" y="4617720"/>
            <a:ext cx="9281160" cy="1060704"/>
          </a:xfrm>
          <a:prstGeom prst="roundRect">
            <a:avLst>
              <a:gd name="adj" fmla="val 6000"/>
            </a:avLst>
          </a:prstGeom>
          <a:solidFill>
            <a:srgbClr val="063331"/>
          </a:solidFill>
          <a:ln w="15240">
            <a:solidFill>
              <a:srgbClr val="41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53312" y="4773168"/>
            <a:ext cx="8732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20" b="1">
                <a:solidFill>
                  <a:srgbClr val="F5FAF8"/>
                </a:solidFill>
                <a:latin typeface="Aptos"/>
              </a:rPr>
              <a:t>The R35 plan includes tutor access and lesson videos; the included standard AI usage allowance has a service value of R5.</a:t>
            </a:r>
          </a:p>
          <a:p>
            <a:pPr algn="ctr">
              <a:spcBef>
                <a:spcPts val="500"/>
              </a:spcBef>
            </a:pPr>
            <a:r>
              <a:rPr sz="1019">
                <a:solidFill>
                  <a:srgbClr val="C6D6D2"/>
                </a:solidFill>
                <a:latin typeface="Aptos"/>
              </a:rPr>
              <a:t>Learners may top up the AI usage balance on a pay-as-you-go basis during the month. Top-ups increase the in-platform AI usage balance and do not create a separate access product.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Go-to-market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Start locally, prove renewals, then expand outward.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298448"/>
            <a:ext cx="3063240" cy="4526280"/>
          </a:xfrm>
          <a:prstGeom prst="roundRect">
            <a:avLst>
              <a:gd name="adj" fmla="val 3582"/>
            </a:avLst>
          </a:prstGeom>
          <a:solidFill>
            <a:srgbClr val="102421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23544" y="16093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3E6CF"/>
                </a:solidFill>
              </a:rPr>
              <a:t>Beachhead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41832" y="2194560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21396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Marikana and surrounding communities in North West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941832" y="2907792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Gauteng school and community outreach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941832" y="3621024"/>
            <a:ext cx="128016" cy="128016"/>
          </a:xfrm>
          <a:prstGeom prst="ellipse">
            <a:avLst/>
          </a:prstGeom>
          <a:solidFill>
            <a:srgbClr val="43E6CF"/>
          </a:solidFill>
          <a:ln w="12700">
            <a:solidFill>
              <a:srgbClr val="43E6C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0432" y="35661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Direct school visits, demos and local trust-building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4187952" y="1298448"/>
            <a:ext cx="3063240" cy="4526280"/>
          </a:xfrm>
          <a:prstGeom prst="roundRect">
            <a:avLst>
              <a:gd name="adj" fmla="val 3582"/>
            </a:avLst>
          </a:prstGeom>
          <a:solidFill>
            <a:srgbClr val="102421"/>
          </a:solidFill>
          <a:ln w="12700">
            <a:solidFill>
              <a:srgbClr val="E9C35B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25696" y="16093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C35B"/>
                </a:solidFill>
              </a:rPr>
              <a:t>Digital channels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443984" y="2194560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72584" y="21396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YouTube ads and lesson videos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4443984" y="2907792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72584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X / Twitter and Facebook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4443984" y="3621024"/>
            <a:ext cx="128016" cy="128016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35661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Website launch page, product demo and community sharing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7690104" y="1298448"/>
            <a:ext cx="3063240" cy="4526280"/>
          </a:xfrm>
          <a:prstGeom prst="roundRect">
            <a:avLst>
              <a:gd name="adj" fmla="val 3582"/>
            </a:avLst>
          </a:prstGeom>
          <a:solidFill>
            <a:srgbClr val="102421"/>
          </a:solidFill>
          <a:ln w="12700">
            <a:solidFill>
              <a:srgbClr val="F29D52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927848" y="16093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9D52"/>
                </a:solidFill>
              </a:rPr>
              <a:t>Launch path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7946136" y="2194560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74736" y="21396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September launch on website and Google Play Store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7946136" y="2907792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74736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Focused on Grade 12 Mathematics first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946136" y="3621024"/>
            <a:ext cx="128016" cy="128016"/>
          </a:xfrm>
          <a:prstGeom prst="ellipse">
            <a:avLst/>
          </a:prstGeom>
          <a:solidFill>
            <a:srgbClr val="F29D52"/>
          </a:solidFill>
          <a:ln w="12700">
            <a:solidFill>
              <a:srgbClr val="F29D52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35661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C4"/>
                </a:solidFill>
              </a:rPr>
              <a:t>Expand across Africa after the core model is proven</a:t>
            </a:r>
            <a:endParaRPr lang="en-US" sz="13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roadmap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Focused Grade 12 Mathematics launch first, then disciplined expansion.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42D29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43E6CF"/>
                </a:solidFill>
              </a:rPr>
              <a:t>Now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21208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Windows and Android app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Grade 12 Mathematics</a:t>
            </a:r>
            <a:endParaRPr lang="en-US" sz="1210" dirty="0"/>
          </a:p>
        </p:txBody>
      </p:sp>
      <p:sp>
        <p:nvSpPr>
          <p:cNvPr id="12" name="Shape 10"/>
          <p:cNvSpPr/>
          <p:nvPr/>
        </p:nvSpPr>
        <p:spPr>
          <a:xfrm>
            <a:off x="2368296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E9C35B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59736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9C35B"/>
                </a:solidFill>
              </a:rPr>
              <a:t>Sep 2026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478024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Launch on website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Google Play Store</a:t>
            </a:r>
            <a:endParaRPr lang="en-US" sz="1210" dirty="0"/>
          </a:p>
        </p:txBody>
      </p:sp>
      <p:sp>
        <p:nvSpPr>
          <p:cNvPr id="15" name="Shape 13"/>
          <p:cNvSpPr/>
          <p:nvPr/>
        </p:nvSpPr>
        <p:spPr>
          <a:xfrm>
            <a:off x="4325112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F29D52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16552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29D52"/>
                </a:solidFill>
              </a:rPr>
              <a:t>2027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434840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Add other grades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high-school subjects</a:t>
            </a:r>
            <a:endParaRPr lang="en-US" sz="1210" dirty="0"/>
          </a:p>
        </p:txBody>
      </p:sp>
      <p:sp>
        <p:nvSpPr>
          <p:cNvPr id="18" name="Shape 16"/>
          <p:cNvSpPr/>
          <p:nvPr/>
        </p:nvSpPr>
        <p:spPr>
          <a:xfrm>
            <a:off x="6281928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365BD8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373368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65BD8"/>
                </a:solidFill>
              </a:rPr>
              <a:t>Next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391656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Expand to Apple, Mac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more devices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8238744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C84C84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30184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84C84"/>
                </a:solidFill>
              </a:rPr>
              <a:t>Platform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348472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Add SIP live tutoring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a shared canvas</a:t>
            </a:r>
            <a:endParaRPr lang="en-US" sz="1210" dirty="0"/>
          </a:p>
        </p:txBody>
      </p:sp>
      <p:sp>
        <p:nvSpPr>
          <p:cNvPr id="24" name="Shape 22"/>
          <p:cNvSpPr/>
          <p:nvPr/>
        </p:nvSpPr>
        <p:spPr>
          <a:xfrm>
            <a:off x="10195560" y="1600200"/>
            <a:ext cx="1737360" cy="3566160"/>
          </a:xfrm>
          <a:prstGeom prst="roundRect">
            <a:avLst>
              <a:gd name="adj" fmla="val 6316"/>
            </a:avLst>
          </a:prstGeom>
          <a:solidFill>
            <a:srgbClr val="102421"/>
          </a:solidFill>
          <a:ln w="12700">
            <a:solidFill>
              <a:srgbClr val="2FA772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287000" y="1847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FA772"/>
                </a:solidFill>
              </a:rPr>
              <a:t>Later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305288" y="2578608"/>
            <a:ext cx="1517904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TVET engineering</a:t>
            </a:r>
            <a:endParaRPr lang="en-US" sz="1210" dirty="0"/>
          </a:p>
          <a:p>
            <a:pPr algn="ctr" indent="0" marL="0">
              <a:buNone/>
            </a:pPr>
            <a:r>
              <a:rPr lang="en-US" sz="1210" b="1" dirty="0">
                <a:solidFill>
                  <a:srgbClr val="F5FBFA"/>
                </a:solidFill>
              </a:rPr>
              <a:t>and broader Africa rollout</a:t>
            </a:r>
            <a:endParaRPr lang="en-US" sz="1210" dirty="0"/>
          </a:p>
        </p:txBody>
      </p:sp>
      <p:sp>
        <p:nvSpPr>
          <p:cNvPr id="27" name="Shape 25"/>
          <p:cNvSpPr/>
          <p:nvPr/>
        </p:nvSpPr>
        <p:spPr>
          <a:xfrm>
            <a:off x="822960" y="5559552"/>
            <a:ext cx="10561320" cy="694944"/>
          </a:xfrm>
          <a:prstGeom prst="roundRect">
            <a:avLst>
              <a:gd name="adj" fmla="val 15789"/>
            </a:avLst>
          </a:prstGeom>
          <a:solidFill>
            <a:srgbClr val="142D29"/>
          </a:solidFill>
          <a:ln w="12700">
            <a:solidFill>
              <a:srgbClr val="118A7B">
                <a:alpha val="5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77900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F5FBFA"/>
                </a:solidFill>
              </a:rPr>
              <a:t>Future SIP service: AI-assisted private tutoring with video/audio calls similar to Meet, Teams and Zoom, plus a shared maths/text canvas for tutors and learners.</a:t>
            </a:r>
            <a:endParaRPr lang="en-US" sz="12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00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advantage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Technical founder with QA, AI/data, engineering and teaching experience.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46920" y="301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E6CF"/>
                </a:solidFill>
              </a:rPr>
              <a:t>SharperTime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46920" y="7132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C7C4"/>
                </a:solidFill>
              </a:rPr>
              <a:t>Google Africa Applied AI Lab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98448"/>
            <a:ext cx="3794760" cy="4297680"/>
          </a:xfrm>
          <a:prstGeom prst="roundRect">
            <a:avLst>
              <a:gd name="adj" fmla="val 2892"/>
            </a:avLst>
          </a:prstGeom>
          <a:solidFill>
            <a:srgbClr val="142D29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24128" y="1664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5FBFA"/>
                </a:solidFill>
              </a:rPr>
              <a:t>Lesego Mohaule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024128" y="213969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3E6CF"/>
                </a:solidFill>
              </a:rPr>
              <a:t>Founder &amp; Director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43E6CF"/>
                </a:solidFill>
              </a:rPr>
              <a:t>Sharper X (Pty) Ltd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24128" y="285292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B8C7C4"/>
                </a:solidFill>
              </a:rPr>
              <a:t>Johannesburg, South Africa</a:t>
            </a:r>
            <a:endParaRPr lang="en-US" sz="1160" dirty="0"/>
          </a:p>
        </p:txBody>
      </p:sp>
      <p:sp>
        <p:nvSpPr>
          <p:cNvPr id="13" name="Text 11"/>
          <p:cNvSpPr/>
          <p:nvPr/>
        </p:nvSpPr>
        <p:spPr>
          <a:xfrm>
            <a:off x="1024128" y="33832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F5FBFA"/>
                </a:solidFill>
              </a:rPr>
              <a:t>BSc (Hons) Big Data Analytics</a:t>
            </a:r>
            <a:endParaRPr lang="en-US" sz="1240" dirty="0"/>
          </a:p>
          <a:p>
            <a:pPr indent="0" marL="0">
              <a:buNone/>
            </a:pPr>
            <a:r>
              <a:rPr lang="en-US" sz="1240" dirty="0">
                <a:solidFill>
                  <a:srgbClr val="F5FBFA"/>
                </a:solidFill>
              </a:rPr>
              <a:t>BSc Geo-Informatics</a:t>
            </a:r>
            <a:endParaRPr lang="en-US" sz="1240" dirty="0"/>
          </a:p>
          <a:p>
            <a:pPr indent="0" marL="0">
              <a:buNone/>
            </a:pPr>
            <a:r>
              <a:rPr lang="en-US" sz="1240" dirty="0">
                <a:solidFill>
                  <a:srgbClr val="F5FBFA"/>
                </a:solidFill>
              </a:rPr>
              <a:t>National Diploma Electrical Engineering</a:t>
            </a:r>
            <a:endParaRPr lang="en-US" sz="1240" dirty="0"/>
          </a:p>
          <a:p>
            <a:pPr indent="0" marL="0">
              <a:buNone/>
            </a:pPr>
            <a:r>
              <a:rPr lang="en-US" sz="1240" dirty="0">
                <a:solidFill>
                  <a:srgbClr val="F5FBFA"/>
                </a:solidFill>
              </a:rPr>
              <a:t>ISTQB Certified Tester Foundation Level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193792" y="1389888"/>
            <a:ext cx="146304" cy="146304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9844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5FBFA"/>
                </a:solidFill>
              </a:rPr>
              <a:t>Software QA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5468112" y="160934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8C7C4"/>
                </a:solidFill>
              </a:rPr>
              <a:t>Functional, regression, usability, web and mobile testing; Appium and Selenium experience.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93792" y="2414016"/>
            <a:ext cx="146304" cy="146304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68112" y="232257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5FBFA"/>
                </a:solidFill>
              </a:rPr>
              <a:t>AI &amp; data capability</a:t>
            </a:r>
            <a:endParaRPr lang="en-US" sz="1580" dirty="0"/>
          </a:p>
        </p:txBody>
      </p:sp>
      <p:sp>
        <p:nvSpPr>
          <p:cNvPr id="19" name="Text 17"/>
          <p:cNvSpPr/>
          <p:nvPr/>
        </p:nvSpPr>
        <p:spPr>
          <a:xfrm>
            <a:off x="5468112" y="2633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8C7C4"/>
                </a:solidFill>
              </a:rPr>
              <a:t>Python, C#, Java, SQL, TensorFlow, PyTorch and data-analysis tools.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93792" y="3438144"/>
            <a:ext cx="146304" cy="146304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3467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5FBFA"/>
                </a:solidFill>
              </a:rPr>
              <a:t>Education link</a:t>
            </a:r>
            <a:endParaRPr lang="en-US" sz="1580" dirty="0"/>
          </a:p>
        </p:txBody>
      </p:sp>
      <p:sp>
        <p:nvSpPr>
          <p:cNvPr id="22" name="Text 20"/>
          <p:cNvSpPr/>
          <p:nvPr/>
        </p:nvSpPr>
        <p:spPr>
          <a:xfrm>
            <a:off x="5468112" y="36576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8C7C4"/>
                </a:solidFill>
              </a:rPr>
              <a:t>Former computer-science lab assistant and practical learner-support experience.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193792" y="4462272"/>
            <a:ext cx="146304" cy="146304"/>
          </a:xfrm>
          <a:prstGeom prst="ellipse">
            <a:avLst/>
          </a:prstGeom>
          <a:solidFill>
            <a:srgbClr val="E9C35B"/>
          </a:solidFill>
          <a:ln w="12700">
            <a:solidFill>
              <a:srgbClr val="E9C35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68112" y="4370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5FBFA"/>
                </a:solidFill>
              </a:rPr>
              <a:t>Builder mindset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5468112" y="468172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8C7C4"/>
                </a:solidFill>
              </a:rPr>
              <a:t>Can build, test, iterate and launch the product rather than only outsource development.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2688" y="6053328"/>
            <a:ext cx="10287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43E6CF"/>
                </a:solidFill>
              </a:rPr>
              <a:t>The founder profile matches SharperTime’s immediate needs: build, test, launch, measure and improve.</a:t>
            </a:r>
            <a:endParaRPr lang="en-US" sz="13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14"/>
          </a:solidFill>
          <a:ln w="12700">
            <a:solidFill>
              <a:srgbClr val="0715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4100F"/>
          </a:solidFill>
          <a:ln w="12700">
            <a:solidFill>
              <a:srgbClr val="04100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18A7B">
              <a:alpha val="75000"/>
            </a:srgbClr>
          </a:solidFill>
          <a:ln w="12700">
            <a:solidFill>
              <a:srgbClr val="118A7B">
                <a:alpha val="0"/>
              </a:srgbClr>
            </a:solidFill>
            <a:prstDash val="solid"/>
          </a:ln>
        </p:spPr>
      </p:sp>
      <p:pic>
        <p:nvPicPr>
          <p:cNvPr id="5" name="Image 0" descr="/mnt/data/calculus_lesso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749808" cy="7498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676656"/>
            <a:ext cx="4160520" cy="3794760"/>
          </a:xfrm>
          <a:prstGeom prst="roundRect">
            <a:avLst>
              <a:gd name="adj" fmla="val 1928"/>
            </a:avLst>
          </a:prstGeom>
          <a:solidFill>
            <a:srgbClr val="F6FAF9"/>
          </a:solidFill>
          <a:ln w="12700">
            <a:solidFill>
              <a:srgbClr val="21403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mnt/data/pitch_assets/camera_graph_respon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48" y="1465612"/>
            <a:ext cx="3941064" cy="221684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13716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BFA"/>
                </a:solidFill>
              </a:rPr>
              <a:t>Personalised AI tutoring that can scale from smartphones to schools across Africa.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749808" y="3749040"/>
            <a:ext cx="5623560" cy="1353312"/>
          </a:xfrm>
          <a:prstGeom prst="roundRect">
            <a:avLst>
              <a:gd name="adj" fmla="val 8108"/>
            </a:avLst>
          </a:prstGeom>
          <a:solidFill>
            <a:srgbClr val="091918"/>
          </a:solidFill>
          <a:ln w="12700">
            <a:solidFill>
              <a:srgbClr val="43E6CF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1024128" y="400507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E6CF"/>
                </a:solidFill>
              </a:rPr>
              <a:t>Why Google Africa Applied AI Lab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024128" y="4389120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B8C7C4"/>
                </a:solidFill>
              </a:rPr>
              <a:t>Technical support, venture-building and Google AI tooling can help SharperTime improve multimodal performance, scale lesson content, refine questions and expand distribution.</a:t>
            </a:r>
            <a:endParaRPr lang="en-US" sz="1220" dirty="0"/>
          </a:p>
        </p:txBody>
      </p:sp>
      <p:sp>
        <p:nvSpPr>
          <p:cNvPr id="12" name="Text 8"/>
          <p:cNvSpPr/>
          <p:nvPr/>
        </p:nvSpPr>
        <p:spPr>
          <a:xfrm>
            <a:off x="768096" y="57150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C35B"/>
                </a:solidFill>
              </a:rPr>
              <a:t>Sharper Solutions. Sharper Futures.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68096" y="6035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7C4"/>
                </a:solidFill>
              </a:rPr>
              <a:t>Sharper X (Pty) Ltd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Sharper X (Pty)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SharperTime Google Africa Applied AI Lab Pitch Deck</dc:title>
  <dc:subject>SharperTime pitch deck for Google Africa Applied AI Lab</dc:subject>
  <dc:creator>OpenAI</dc:creator>
  <cp:lastModifiedBy>OpenAI</cp:lastModifiedBy>
  <cp:revision>1</cp:revision>
  <dcterms:created xsi:type="dcterms:W3CDTF">2026-08-30T12:38:57Z</dcterms:created>
  <dcterms:modified xsi:type="dcterms:W3CDTF">2026-08-30T12:38:57Z</dcterms:modified>
</cp:coreProperties>
</file>